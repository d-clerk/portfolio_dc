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6"/>
  </p:notesMasterIdLst>
  <p:handoutMasterIdLst>
    <p:handoutMasterId r:id="rId27"/>
  </p:handoutMasterIdLst>
  <p:sldIdLst>
    <p:sldId id="256" r:id="rId5"/>
    <p:sldId id="259" r:id="rId6"/>
    <p:sldId id="260" r:id="rId7"/>
    <p:sldId id="269" r:id="rId8"/>
    <p:sldId id="263" r:id="rId9"/>
    <p:sldId id="271" r:id="rId10"/>
    <p:sldId id="277" r:id="rId11"/>
    <p:sldId id="275" r:id="rId12"/>
    <p:sldId id="272" r:id="rId13"/>
    <p:sldId id="282" r:id="rId14"/>
    <p:sldId id="285" r:id="rId15"/>
    <p:sldId id="281" r:id="rId16"/>
    <p:sldId id="283" r:id="rId17"/>
    <p:sldId id="284" r:id="rId18"/>
    <p:sldId id="273" r:id="rId19"/>
    <p:sldId id="278" r:id="rId20"/>
    <p:sldId id="274" r:id="rId21"/>
    <p:sldId id="279" r:id="rId22"/>
    <p:sldId id="286" r:id="rId23"/>
    <p:sldId id="287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FBFBF"/>
    <a:srgbClr val="3A2C23"/>
    <a:srgbClr val="3F7819"/>
    <a:srgbClr val="3F3F3F"/>
    <a:srgbClr val="014067"/>
    <a:srgbClr val="014E7D"/>
    <a:srgbClr val="013657"/>
    <a:srgbClr val="01456F"/>
    <a:srgbClr val="014B79"/>
    <a:srgbClr val="0937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E66E72-7C3F-4B7B-9718-DFD174B6E0DB}" v="4" dt="2022-03-07T20:24:01.01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8" autoAdjust="0"/>
    <p:restoredTop sz="94674" autoAdjust="0"/>
  </p:normalViewPr>
  <p:slideViewPr>
    <p:cSldViewPr snapToGrid="0" showGuides="1">
      <p:cViewPr varScale="1">
        <p:scale>
          <a:sx n="112" d="100"/>
          <a:sy n="112" d="100"/>
        </p:scale>
        <p:origin x="492" y="96"/>
      </p:cViewPr>
      <p:guideLst>
        <p:guide pos="3840"/>
        <p:guide pos="597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4" d="100"/>
          <a:sy n="84" d="100"/>
        </p:scale>
        <p:origin x="382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BEDA40-91A9-49DC-B402-0EBE674AAE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CBB508-5589-42E7-A433-D119AC0FFB7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2BFC85-49E4-447A-A7E3-16153CB2FE2A}" type="datetimeFigureOut">
              <a:rPr lang="en-US" smtClean="0"/>
              <a:t>9/29/2025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9232ABA-B33A-4B3B-8412-C1773FBF3D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B1832E-3B48-42CB-80A7-CD8E48D52D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072A3-100F-40A9-915F-8D2D9E6962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35371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19:34:54.13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0,'11'1,"0"0,0 1,-1 1,19 6,13 3,267 34,-237-36,78 14,-82-11,0-4,96 2,26-9,145-6,-267-4,81-20,19-4,-41 18,151 4,-150 9,-36-2,0 4,-1 5,120 21,-116-10,145 7,-149-13,-55-5,47 0,-31-6,-30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19:34:57.08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4,'223'-3,"237"6,-394 5,125 30,-122-23,23 9,-71-19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2-03-15T19:35:03.36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1,'0'1,"1"-1,-1 1,0 0,1 0,-1-1,1 1,-1 0,1-1,-1 1,1 0,-1-1,1 1,0-1,-1 1,1-1,0 0,0 1,-1-1,1 0,0 1,0-1,-1 0,1 0,0 1,1-1,25 4,-24-3,808 29,-715-31,65 12,-25 0,114 1,97 1,-128-14,-201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71B50E-4C60-4F9E-B773-52059170945B}" type="datetimeFigureOut">
              <a:rPr lang="en-US" noProof="0" smtClean="0"/>
              <a:t>9/29/2025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230CFA-805A-4FD3-B3A0-DAAA5993DA17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798927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73B47EE6-EDE6-4881-B456-B37D9C1ADE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00450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7537" userDrawn="1">
          <p15:clr>
            <a:srgbClr val="FBAE40"/>
          </p15:clr>
        </p15:guide>
        <p15:guide id="3" pos="138" userDrawn="1">
          <p15:clr>
            <a:srgbClr val="FBAE40"/>
          </p15:clr>
        </p15:guide>
        <p15:guide id="4" orient="horz" pos="4178" userDrawn="1">
          <p15:clr>
            <a:srgbClr val="FBAE40"/>
          </p15:clr>
        </p15:guide>
        <p15:guide id="5" orient="horz" pos="142" userDrawn="1">
          <p15:clr>
            <a:srgbClr val="FBAE40"/>
          </p15:clr>
        </p15:guide>
        <p15:guide id="6" pos="2457" userDrawn="1">
          <p15:clr>
            <a:srgbClr val="FBAE40"/>
          </p15:clr>
        </p15:guide>
        <p15:guide id="7" pos="43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5572AA9-EFAE-4771-B1EE-47E36117377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239983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143" userDrawn="1">
          <p15:clr>
            <a:srgbClr val="FBAE40"/>
          </p15:clr>
        </p15:guide>
        <p15:guide id="4" orient="horz" pos="4170" userDrawn="1">
          <p15:clr>
            <a:srgbClr val="FBAE40"/>
          </p15:clr>
        </p15:guide>
        <p15:guide id="5" pos="7537" userDrawn="1">
          <p15:clr>
            <a:srgbClr val="FBAE40"/>
          </p15:clr>
        </p15:guide>
        <p15:guide id="6" orient="horz" pos="14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Right Triangle 23">
            <a:extLst>
              <a:ext uri="{FF2B5EF4-FFF2-40B4-BE49-F238E27FC236}">
                <a16:creationId xmlns:a16="http://schemas.microsoft.com/office/drawing/2014/main" id="{BD6ACE60-499D-41AB-89C4-D537D7C3D22A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6375400" y="5047077"/>
            <a:ext cx="1524574" cy="18034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3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Title 1" title="Title ">
            <a:extLst>
              <a:ext uri="{FF2B5EF4-FFF2-40B4-BE49-F238E27FC236}">
                <a16:creationId xmlns:a16="http://schemas.microsoft.com/office/drawing/2014/main" id="{20237B57-91C6-4F8B-8AA0-18FA50B0FD1D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FE1FADFB-0A3D-40F7-9B40-368DECD971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604000" y="0"/>
            <a:ext cx="5588000" cy="6872249"/>
          </a:xfrm>
          <a:custGeom>
            <a:avLst/>
            <a:gdLst>
              <a:gd name="connsiteX0" fmla="*/ 3876237 w 5588000"/>
              <a:gd name="connsiteY0" fmla="*/ 5431883 h 6872249"/>
              <a:gd name="connsiteX1" fmla="*/ 4953000 w 5588000"/>
              <a:gd name="connsiteY1" fmla="*/ 5431883 h 6872249"/>
              <a:gd name="connsiteX2" fmla="*/ 3769163 w 5588000"/>
              <a:gd name="connsiteY2" fmla="*/ 6872249 h 6872249"/>
              <a:gd name="connsiteX3" fmla="*/ 2692400 w 5588000"/>
              <a:gd name="connsiteY3" fmla="*/ 6872249 h 6872249"/>
              <a:gd name="connsiteX4" fmla="*/ 2479230 w 5588000"/>
              <a:gd name="connsiteY4" fmla="*/ 2870200 h 6872249"/>
              <a:gd name="connsiteX5" fmla="*/ 3175000 w 5588000"/>
              <a:gd name="connsiteY5" fmla="*/ 2870200 h 6872249"/>
              <a:gd name="connsiteX6" fmla="*/ 1965770 w 5588000"/>
              <a:gd name="connsiteY6" fmla="*/ 4310566 h 6872249"/>
              <a:gd name="connsiteX7" fmla="*/ 1270000 w 5588000"/>
              <a:gd name="connsiteY7" fmla="*/ 4310566 h 6872249"/>
              <a:gd name="connsiteX8" fmla="*/ 5575300 w 5588000"/>
              <a:gd name="connsiteY8" fmla="*/ 139700 h 6872249"/>
              <a:gd name="connsiteX9" fmla="*/ 5575300 w 5588000"/>
              <a:gd name="connsiteY9" fmla="*/ 3238583 h 6872249"/>
              <a:gd name="connsiteX10" fmla="*/ 2571663 w 5588000"/>
              <a:gd name="connsiteY10" fmla="*/ 6858000 h 6872249"/>
              <a:gd name="connsiteX11" fmla="*/ 0 w 5588000"/>
              <a:gd name="connsiteY11" fmla="*/ 6858000 h 6872249"/>
              <a:gd name="connsiteX12" fmla="*/ 4256761 w 5588000"/>
              <a:gd name="connsiteY12" fmla="*/ 0 h 6872249"/>
              <a:gd name="connsiteX13" fmla="*/ 5588000 w 5588000"/>
              <a:gd name="connsiteY13" fmla="*/ 0 h 6872249"/>
              <a:gd name="connsiteX14" fmla="*/ 3274339 w 5588000"/>
              <a:gd name="connsiteY14" fmla="*/ 2755900 h 6872249"/>
              <a:gd name="connsiteX15" fmla="*/ 1943100 w 5588000"/>
              <a:gd name="connsiteY15" fmla="*/ 2755900 h 6872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5588000" h="6872249">
                <a:moveTo>
                  <a:pt x="3876237" y="5431883"/>
                </a:moveTo>
                <a:lnTo>
                  <a:pt x="4953000" y="5431883"/>
                </a:lnTo>
                <a:lnTo>
                  <a:pt x="3769163" y="6872249"/>
                </a:lnTo>
                <a:lnTo>
                  <a:pt x="2692400" y="6872249"/>
                </a:lnTo>
                <a:close/>
                <a:moveTo>
                  <a:pt x="2479230" y="2870200"/>
                </a:moveTo>
                <a:lnTo>
                  <a:pt x="3175000" y="2870200"/>
                </a:lnTo>
                <a:lnTo>
                  <a:pt x="1965770" y="4310566"/>
                </a:lnTo>
                <a:lnTo>
                  <a:pt x="1270000" y="4310566"/>
                </a:lnTo>
                <a:close/>
                <a:moveTo>
                  <a:pt x="5575300" y="139700"/>
                </a:moveTo>
                <a:lnTo>
                  <a:pt x="5575300" y="3238583"/>
                </a:lnTo>
                <a:lnTo>
                  <a:pt x="2571663" y="6858000"/>
                </a:lnTo>
                <a:lnTo>
                  <a:pt x="0" y="6858000"/>
                </a:lnTo>
                <a:close/>
                <a:moveTo>
                  <a:pt x="4256761" y="0"/>
                </a:moveTo>
                <a:lnTo>
                  <a:pt x="5588000" y="0"/>
                </a:lnTo>
                <a:lnTo>
                  <a:pt x="3274339" y="2755900"/>
                </a:lnTo>
                <a:lnTo>
                  <a:pt x="1943100" y="2755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DB14A5-A767-774C-85B8-68EF914689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B9B51B-EAA9-4B4D-A4F6-470CD95DAA7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42230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ight Triangle 34">
            <a:extLst>
              <a:ext uri="{FF2B5EF4-FFF2-40B4-BE49-F238E27FC236}">
                <a16:creationId xmlns:a16="http://schemas.microsoft.com/office/drawing/2014/main" id="{805F1696-7D6B-4055-94C3-E4C179F63596}"/>
              </a:ext>
            </a:extLst>
          </p:cNvPr>
          <p:cNvSpPr/>
          <p:nvPr userDrawn="1"/>
        </p:nvSpPr>
        <p:spPr>
          <a:xfrm flipH="1" flipV="1">
            <a:off x="1839686" y="-6"/>
            <a:ext cx="10352314" cy="5638806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B9EC3A9-7039-403A-9414-429521308A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0177" y="1435100"/>
            <a:ext cx="6021821" cy="5422900"/>
          </a:xfrm>
          <a:custGeom>
            <a:avLst/>
            <a:gdLst>
              <a:gd name="connsiteX0" fmla="*/ 6021821 w 6021821"/>
              <a:gd name="connsiteY0" fmla="*/ 0 h 5422900"/>
              <a:gd name="connsiteX1" fmla="*/ 6021821 w 6021821"/>
              <a:gd name="connsiteY1" fmla="*/ 5422900 h 5422900"/>
              <a:gd name="connsiteX2" fmla="*/ 0 w 6021821"/>
              <a:gd name="connsiteY2" fmla="*/ 5422900 h 542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021821" h="5422900">
                <a:moveTo>
                  <a:pt x="6021821" y="0"/>
                </a:moveTo>
                <a:lnTo>
                  <a:pt x="6021821" y="5422900"/>
                </a:lnTo>
                <a:lnTo>
                  <a:pt x="0" y="5422900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rIns="457200" anchor="ctr">
            <a:noAutofit/>
          </a:bodyPr>
          <a:lstStyle>
            <a:lvl1pPr marL="0" indent="0" algn="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3" name="Content Placeholder 2" title="Bullet Points">
            <a:extLst>
              <a:ext uri="{FF2B5EF4-FFF2-40B4-BE49-F238E27FC236}">
                <a16:creationId xmlns:a16="http://schemas.microsoft.com/office/drawing/2014/main" id="{BFD7EA17-BE66-4636-9684-F935625879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129540"/>
            <a:ext cx="4942829" cy="295827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buClr>
                <a:schemeClr val="accent2"/>
              </a:buClr>
              <a:defRPr sz="2400">
                <a:solidFill>
                  <a:schemeClr val="tx1"/>
                </a:solidFill>
              </a:defRPr>
            </a:lvl1pPr>
            <a:lvl2pPr>
              <a:buClr>
                <a:schemeClr val="accent2"/>
              </a:buClr>
              <a:defRPr sz="2000">
                <a:solidFill>
                  <a:schemeClr val="tx1"/>
                </a:solidFill>
              </a:defRPr>
            </a:lvl2pPr>
            <a:lvl3pPr>
              <a:buClr>
                <a:schemeClr val="accent2"/>
              </a:buClr>
              <a:defRPr sz="1800">
                <a:solidFill>
                  <a:schemeClr val="tx1"/>
                </a:solidFill>
              </a:defRPr>
            </a:lvl3pPr>
            <a:lvl4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4pPr>
            <a:lvl5pPr>
              <a:buClr>
                <a:schemeClr val="accent2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18C08F43-D42B-4CF1-912F-BC83D72AB415}"/>
              </a:ext>
            </a:extLst>
          </p:cNvPr>
          <p:cNvSpPr/>
          <p:nvPr userDrawn="1"/>
        </p:nvSpPr>
        <p:spPr>
          <a:xfrm flipH="1">
            <a:off x="2978150" y="-5"/>
            <a:ext cx="4121150" cy="1308105"/>
          </a:xfrm>
          <a:prstGeom prst="parallelogram">
            <a:avLst>
              <a:gd name="adj" fmla="val 18638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411C731-2333-41B0-927A-0A48EEC79964}"/>
              </a:ext>
            </a:extLst>
          </p:cNvPr>
          <p:cNvCxnSpPr>
            <a:cxnSpLocks/>
          </p:cNvCxnSpPr>
          <p:nvPr userDrawn="1"/>
        </p:nvCxnSpPr>
        <p:spPr>
          <a:xfrm flipV="1">
            <a:off x="10352314" y="1185452"/>
            <a:ext cx="1839685" cy="163394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4" title="Subtitle">
            <a:extLst>
              <a:ext uri="{FF2B5EF4-FFF2-40B4-BE49-F238E27FC236}">
                <a16:creationId xmlns:a16="http://schemas.microsoft.com/office/drawing/2014/main" id="{D71EE635-EA0C-4139-8160-AE1EAD13AAEB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31379" y="2496102"/>
            <a:ext cx="7342621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19" name="Title 1" title="Title ">
            <a:extLst>
              <a:ext uri="{FF2B5EF4-FFF2-40B4-BE49-F238E27FC236}">
                <a16:creationId xmlns:a16="http://schemas.microsoft.com/office/drawing/2014/main" id="{2DB9D671-9FC8-4306-96B7-D9D585694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378" y="1241109"/>
            <a:ext cx="7342622" cy="121556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4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</a:t>
            </a:r>
            <a:br>
              <a:rPr lang="en-US" noProof="0"/>
            </a:br>
            <a:r>
              <a:rPr lang="en-US" noProof="0"/>
              <a:t>Master Title Style 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E55A0B9-F639-8643-9C4D-B93B8EE21A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C29282-8AC7-494D-9A8E-A26C7F6994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2831109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41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i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B2E19FBD-2379-4B3B-910D-F51E007CB63F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520698" y="2104888"/>
            <a:ext cx="547529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Content Placeholder 3" title="Bullet Points">
            <a:extLst>
              <a:ext uri="{FF2B5EF4-FFF2-40B4-BE49-F238E27FC236}">
                <a16:creationId xmlns:a16="http://schemas.microsoft.com/office/drawing/2014/main" id="{8715E757-6584-4841-8154-C92E70E0CD6B}"/>
              </a:ext>
            </a:extLst>
          </p:cNvPr>
          <p:cNvSpPr>
            <a:spLocks noGrp="1"/>
          </p:cNvSpPr>
          <p:nvPr userDrawn="1">
            <p:ph sz="half" idx="13"/>
          </p:nvPr>
        </p:nvSpPr>
        <p:spPr>
          <a:xfrm>
            <a:off x="520698" y="2886076"/>
            <a:ext cx="547529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/>
              <a:t>Click to 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/>
              <a:t>Fifth level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47CDC5A2-8836-4ED3-8E78-18C24853D882}"/>
              </a:ext>
            </a:extLst>
          </p:cNvPr>
          <p:cNvSpPr>
            <a:spLocks noGrp="1"/>
          </p:cNvSpPr>
          <p:nvPr userDrawn="1">
            <p:ph type="body" sz="quarter" idx="14"/>
          </p:nvPr>
        </p:nvSpPr>
        <p:spPr>
          <a:xfrm>
            <a:off x="6186713" y="2104888"/>
            <a:ext cx="5475600" cy="7811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800" b="1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5" title="Bullet Points">
            <a:extLst>
              <a:ext uri="{FF2B5EF4-FFF2-40B4-BE49-F238E27FC236}">
                <a16:creationId xmlns:a16="http://schemas.microsoft.com/office/drawing/2014/main" id="{D957FBD7-2C3C-4DD1-954F-DF1E007BE590}"/>
              </a:ext>
            </a:extLst>
          </p:cNvPr>
          <p:cNvSpPr>
            <a:spLocks noGrp="1"/>
          </p:cNvSpPr>
          <p:nvPr userDrawn="1">
            <p:ph sz="quarter" idx="15"/>
          </p:nvPr>
        </p:nvSpPr>
        <p:spPr>
          <a:xfrm>
            <a:off x="6186713" y="2886076"/>
            <a:ext cx="5475600" cy="3232149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  <a:lvl2pPr>
              <a:defRPr lang="en-US" dirty="0">
                <a:solidFill>
                  <a:schemeClr val="bg1"/>
                </a:solidFill>
              </a:defRPr>
            </a:lvl2pPr>
            <a:lvl3pPr>
              <a:defRPr lang="en-US" dirty="0">
                <a:solidFill>
                  <a:schemeClr val="bg1"/>
                </a:solidFill>
              </a:defRPr>
            </a:lvl3pPr>
            <a:lvl4pPr>
              <a:defRPr lang="en-US" dirty="0">
                <a:solidFill>
                  <a:schemeClr val="bg1"/>
                </a:solidFill>
              </a:defRPr>
            </a:lvl4pPr>
            <a:lvl5pPr>
              <a:defRPr lang="en-IN" dirty="0">
                <a:solidFill>
                  <a:schemeClr val="bg1"/>
                </a:solidFill>
              </a:defRPr>
            </a:lvl5pPr>
          </a:lstStyle>
          <a:p>
            <a:pPr lvl="0">
              <a:buClr>
                <a:schemeClr val="accent2"/>
              </a:buClr>
            </a:pPr>
            <a:r>
              <a:rPr lang="en-US" noProof="0"/>
              <a:t>Click to edit Master text styles</a:t>
            </a:r>
          </a:p>
          <a:p>
            <a:pPr lvl="1">
              <a:buClr>
                <a:schemeClr val="accent2"/>
              </a:buClr>
            </a:pPr>
            <a:r>
              <a:rPr lang="en-US" noProof="0"/>
              <a:t>Second level</a:t>
            </a:r>
          </a:p>
          <a:p>
            <a:pPr lvl="2">
              <a:buClr>
                <a:schemeClr val="accent2"/>
              </a:buClr>
            </a:pPr>
            <a:r>
              <a:rPr lang="en-US" noProof="0"/>
              <a:t>Third level</a:t>
            </a:r>
          </a:p>
          <a:p>
            <a:pPr lvl="3">
              <a:buClr>
                <a:schemeClr val="accent2"/>
              </a:buClr>
            </a:pPr>
            <a:r>
              <a:rPr lang="en-US" noProof="0"/>
              <a:t>Fourth level</a:t>
            </a:r>
          </a:p>
          <a:p>
            <a:pPr lvl="4">
              <a:buClr>
                <a:schemeClr val="accent2"/>
              </a:buClr>
            </a:pPr>
            <a:r>
              <a:rPr lang="en-US" noProof="0"/>
              <a:t>Fifth level</a:t>
            </a:r>
          </a:p>
        </p:txBody>
      </p:sp>
      <p:sp>
        <p:nvSpPr>
          <p:cNvPr id="24" name="Text Placeholder 4" title="Subtitle">
            <a:extLst>
              <a:ext uri="{FF2B5EF4-FFF2-40B4-BE49-F238E27FC236}">
                <a16:creationId xmlns:a16="http://schemas.microsoft.com/office/drawing/2014/main" id="{77DB65FF-A89E-4562-8251-2BB63EFDD28E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</p:spTree>
    <p:extLst>
      <p:ext uri="{BB962C8B-B14F-4D97-AF65-F5344CB8AC3E}">
        <p14:creationId xmlns:p14="http://schemas.microsoft.com/office/powerpoint/2010/main" val="32565402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FB39FF5-7AF5-4963-9346-2640496A3302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806E656-313A-47B1-B381-D004200F7A01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9" name="Diagonal Stripe 28">
              <a:extLst>
                <a:ext uri="{FF2B5EF4-FFF2-40B4-BE49-F238E27FC236}">
                  <a16:creationId xmlns:a16="http://schemas.microsoft.com/office/drawing/2014/main" id="{65F8E2DA-4BB4-4421-9172-A11AF38DFEF4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EDB47F2-B6A7-40B4-8A2C-06719F75C08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Parallelogram 30">
              <a:extLst>
                <a:ext uri="{FF2B5EF4-FFF2-40B4-BE49-F238E27FC236}">
                  <a16:creationId xmlns:a16="http://schemas.microsoft.com/office/drawing/2014/main" id="{B188E7A9-2351-4B68-98B8-10099CB39CD2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3" name="Parallelogram 32">
            <a:extLst>
              <a:ext uri="{FF2B5EF4-FFF2-40B4-BE49-F238E27FC236}">
                <a16:creationId xmlns:a16="http://schemas.microsoft.com/office/drawing/2014/main" id="{F088C182-BF10-45B2-B159-7702E00D31D4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34" name="Text Placeholder 4" title="Subtitle">
            <a:extLst>
              <a:ext uri="{FF2B5EF4-FFF2-40B4-BE49-F238E27FC236}">
                <a16:creationId xmlns:a16="http://schemas.microsoft.com/office/drawing/2014/main" id="{FB561B16-2788-452A-B7AF-A482256DCDF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990C03-1647-2044-B335-6F5F19E4E5F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F03A7CC-E6DC-1544-BE55-15EC1718B77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BDEC780E-6412-1344-A62E-6B84E9CCB6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C82AC85-33B6-2B49-8BF4-0841444437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31814" y="2005762"/>
            <a:ext cx="5225764" cy="40838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Text here</a:t>
            </a:r>
          </a:p>
        </p:txBody>
      </p:sp>
      <p:sp>
        <p:nvSpPr>
          <p:cNvPr id="20" name="Chart Placeholder 2" title="Chart">
            <a:extLst>
              <a:ext uri="{FF2B5EF4-FFF2-40B4-BE49-F238E27FC236}">
                <a16:creationId xmlns:a16="http://schemas.microsoft.com/office/drawing/2014/main" id="{0EF0FD2A-B62A-4931-846D-2602DED26606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5796114" y="2005762"/>
            <a:ext cx="5719397" cy="4084470"/>
          </a:xfrm>
          <a:prstGeom prst="rect">
            <a:avLst/>
          </a:prstGeom>
        </p:spPr>
        <p:txBody>
          <a:bodyPr vert="horz" lIns="91420" tIns="45710" rIns="91420" bIns="45710">
            <a:noAutofit/>
          </a:bodyPr>
          <a:lstStyle>
            <a:lvl1pPr marL="0" indent="0" algn="ctr">
              <a:buNone/>
              <a:defRPr sz="2000" b="0" i="0">
                <a:solidFill>
                  <a:schemeClr val="bg1"/>
                </a:solidFill>
                <a:latin typeface="+mn-lt"/>
                <a:cs typeface="CiscoSans ExtraLight"/>
              </a:defRPr>
            </a:lvl1pPr>
          </a:lstStyle>
          <a:p>
            <a:pPr lvl="0"/>
            <a:r>
              <a:rPr lang="en-US" noProof="0"/>
              <a:t>Click icon to add chart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004770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69EF72CE-34D2-4581-98D2-89218BC1B4E4}"/>
              </a:ext>
            </a:extLst>
          </p:cNvPr>
          <p:cNvSpPr/>
          <p:nvPr userDrawn="1"/>
        </p:nvSpPr>
        <p:spPr>
          <a:xfrm>
            <a:off x="0" y="13740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6C8A74F-FDDF-48E8-AC2B-A5BD59D7D6A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2D5247F3-E6EB-4003-B1FD-F6200F0738E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9B7D995-9FB8-4461-8AAA-FA8B9A145B6B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Parallelogram 32">
              <a:extLst>
                <a:ext uri="{FF2B5EF4-FFF2-40B4-BE49-F238E27FC236}">
                  <a16:creationId xmlns:a16="http://schemas.microsoft.com/office/drawing/2014/main" id="{849B962F-68BC-4B89-B4D8-D862517534DF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8006416B-866C-47E5-8480-109B40F9EAA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7" name="Text Placeholder 4" title="Subtitle">
            <a:extLst>
              <a:ext uri="{FF2B5EF4-FFF2-40B4-BE49-F238E27FC236}">
                <a16:creationId xmlns:a16="http://schemas.microsoft.com/office/drawing/2014/main" id="{FE79FAE9-2A8C-46BA-8738-44CBCF7294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0493" y="1376932"/>
            <a:ext cx="7368596" cy="6088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spc="3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SUBTITLE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960C75-8FA7-5740-9388-2B5112B2C5B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17" name="Title 1" title="Title ">
            <a:extLst>
              <a:ext uri="{FF2B5EF4-FFF2-40B4-BE49-F238E27FC236}">
                <a16:creationId xmlns:a16="http://schemas.microsoft.com/office/drawing/2014/main" id="{0F525D04-A814-7A4D-9732-11097EA76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5" name="Table Placeholder 11" title="Table">
            <a:extLst>
              <a:ext uri="{FF2B5EF4-FFF2-40B4-BE49-F238E27FC236}">
                <a16:creationId xmlns:a16="http://schemas.microsoft.com/office/drawing/2014/main" id="{7CD3E31F-0AF8-4EB8-B6FA-BD95A2EDA63B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31378" y="2664803"/>
            <a:ext cx="10993375" cy="3433180"/>
          </a:xfrm>
          <a:prstGeom prst="rect">
            <a:avLst/>
          </a:prstGeom>
        </p:spPr>
        <p:txBody>
          <a:bodyPr lIns="91420" tIns="45710" rIns="91420" bIns="45710">
            <a:noAutofit/>
          </a:bodyPr>
          <a:lstStyle>
            <a:lvl1pPr marL="0" indent="0" algn="ctr">
              <a:buNone/>
              <a:defRPr sz="20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noProof="0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4150609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CAFD81C-E6E5-4292-828B-BD147E6DEAB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ight Triangle 3">
            <a:extLst>
              <a:ext uri="{FF2B5EF4-FFF2-40B4-BE49-F238E27FC236}">
                <a16:creationId xmlns:a16="http://schemas.microsoft.com/office/drawing/2014/main" id="{79ED029D-F488-47E5-B064-0E35B31D23A5}"/>
              </a:ext>
            </a:extLst>
          </p:cNvPr>
          <p:cNvSpPr/>
          <p:nvPr userDrawn="1"/>
        </p:nvSpPr>
        <p:spPr>
          <a:xfrm flipV="1">
            <a:off x="0" y="-5"/>
            <a:ext cx="11747500" cy="6299203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Picture Placeholder 31" title="Image">
            <a:extLst>
              <a:ext uri="{FF2B5EF4-FFF2-40B4-BE49-F238E27FC236}">
                <a16:creationId xmlns:a16="http://schemas.microsoft.com/office/drawing/2014/main" id="{D683190A-95C6-428D-AEE4-FC8350C3246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9229" y="326570"/>
            <a:ext cx="11473542" cy="620485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lIns="0" tIns="0" anchor="ctr"/>
          <a:lstStyle>
            <a:lvl1pPr marL="0" indent="0" algn="ctr">
              <a:buNone/>
              <a:defRPr sz="11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and Drop Image Here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78F4957-6DDE-40CE-9D33-00B1434FA08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5344886"/>
            <a:ext cx="2362200" cy="1240972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 title="Title ">
            <a:extLst>
              <a:ext uri="{FF2B5EF4-FFF2-40B4-BE49-F238E27FC236}">
                <a16:creationId xmlns:a16="http://schemas.microsoft.com/office/drawing/2014/main" id="{D9A8085F-72C4-4DFB-813E-C5666B0CCF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9229" y="558802"/>
            <a:ext cx="8333222" cy="939798"/>
          </a:xfrm>
          <a:prstGeom prst="rect">
            <a:avLst/>
          </a:prstGeom>
          <a:solidFill>
            <a:schemeClr val="bg1">
              <a:alpha val="90000"/>
            </a:schemeClr>
          </a:solidFill>
        </p:spPr>
        <p:txBody>
          <a:bodyPr lIns="288000" anchor="ctr">
            <a:normAutofit/>
          </a:bodyPr>
          <a:lstStyle>
            <a:lvl1pPr>
              <a:defRPr sz="3600" b="1"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Add Caption Here</a:t>
            </a:r>
          </a:p>
        </p:txBody>
      </p:sp>
    </p:spTree>
    <p:extLst>
      <p:ext uri="{BB962C8B-B14F-4D97-AF65-F5344CB8AC3E}">
        <p14:creationId xmlns:p14="http://schemas.microsoft.com/office/powerpoint/2010/main" val="42375767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0A6720D-B182-4290-BD91-1D1E4D93060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488AB73-8058-4FB5-9619-FCECCA9F39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22929" y="3461163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Name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59BE165-3EB5-4C11-8B53-6E98C0BC2E6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22929" y="3839451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Phone Number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79D05293-35AD-495F-A7AE-942398090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22928" y="4216669"/>
            <a:ext cx="3445783" cy="28907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Email </a:t>
            </a:r>
          </a:p>
        </p:txBody>
      </p:sp>
      <p:sp>
        <p:nvSpPr>
          <p:cNvPr id="13" name="Text Placeholder 21">
            <a:extLst>
              <a:ext uri="{FF2B5EF4-FFF2-40B4-BE49-F238E27FC236}">
                <a16:creationId xmlns:a16="http://schemas.microsoft.com/office/drawing/2014/main" id="{997A03F2-8D8A-4425-9F56-66DB33CE11A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822929" y="4594957"/>
            <a:ext cx="3445782" cy="28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latin typeface="+mn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Company Website</a:t>
            </a:r>
          </a:p>
        </p:txBody>
      </p:sp>
      <p:sp>
        <p:nvSpPr>
          <p:cNvPr id="14" name="Shape 4157">
            <a:extLst>
              <a:ext uri="{FF2B5EF4-FFF2-40B4-BE49-F238E27FC236}">
                <a16:creationId xmlns:a16="http://schemas.microsoft.com/office/drawing/2014/main" id="{A30A8F28-98F4-425F-A750-78192A157DF4}"/>
              </a:ext>
            </a:extLst>
          </p:cNvPr>
          <p:cNvSpPr/>
          <p:nvPr userDrawn="1"/>
        </p:nvSpPr>
        <p:spPr>
          <a:xfrm>
            <a:off x="6458938" y="3505247"/>
            <a:ext cx="258875" cy="2588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5" name="Shape 4186">
            <a:extLst>
              <a:ext uri="{FF2B5EF4-FFF2-40B4-BE49-F238E27FC236}">
                <a16:creationId xmlns:a16="http://schemas.microsoft.com/office/drawing/2014/main" id="{2F84D399-8148-4E86-A1E4-BE7D1D81383A}"/>
              </a:ext>
            </a:extLst>
          </p:cNvPr>
          <p:cNvSpPr/>
          <p:nvPr userDrawn="1"/>
        </p:nvSpPr>
        <p:spPr>
          <a:xfrm>
            <a:off x="6507622" y="3897986"/>
            <a:ext cx="161507" cy="296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00" y="1473"/>
                </a:moveTo>
                <a:lnTo>
                  <a:pt x="9900" y="1473"/>
                </a:lnTo>
                <a:cubicBezTo>
                  <a:pt x="9403" y="1473"/>
                  <a:pt x="9000" y="1692"/>
                  <a:pt x="9000" y="1964"/>
                </a:cubicBezTo>
                <a:cubicBezTo>
                  <a:pt x="9000" y="2235"/>
                  <a:pt x="9403" y="2455"/>
                  <a:pt x="9900" y="2455"/>
                </a:cubicBezTo>
                <a:lnTo>
                  <a:pt x="11700" y="2455"/>
                </a:lnTo>
                <a:cubicBezTo>
                  <a:pt x="12197" y="2455"/>
                  <a:pt x="12600" y="2235"/>
                  <a:pt x="12600" y="1964"/>
                </a:cubicBezTo>
                <a:cubicBezTo>
                  <a:pt x="12600" y="1692"/>
                  <a:pt x="12197" y="1473"/>
                  <a:pt x="11700" y="1473"/>
                </a:cubicBezTo>
                <a:moveTo>
                  <a:pt x="19800" y="2945"/>
                </a:moveTo>
                <a:lnTo>
                  <a:pt x="1800" y="2945"/>
                </a:lnTo>
                <a:lnTo>
                  <a:pt x="1800" y="1964"/>
                </a:lnTo>
                <a:cubicBezTo>
                  <a:pt x="1800" y="1422"/>
                  <a:pt x="2605" y="982"/>
                  <a:pt x="3600" y="982"/>
                </a:cubicBezTo>
                <a:lnTo>
                  <a:pt x="18000" y="982"/>
                </a:lnTo>
                <a:cubicBezTo>
                  <a:pt x="18993" y="982"/>
                  <a:pt x="19800" y="1422"/>
                  <a:pt x="19800" y="1964"/>
                </a:cubicBezTo>
                <a:cubicBezTo>
                  <a:pt x="19800" y="1964"/>
                  <a:pt x="19800" y="2945"/>
                  <a:pt x="19800" y="2945"/>
                </a:cubicBezTo>
                <a:close/>
                <a:moveTo>
                  <a:pt x="19800" y="17673"/>
                </a:moveTo>
                <a:lnTo>
                  <a:pt x="1800" y="17673"/>
                </a:lnTo>
                <a:lnTo>
                  <a:pt x="1800" y="3927"/>
                </a:lnTo>
                <a:lnTo>
                  <a:pt x="19800" y="3927"/>
                </a:lnTo>
                <a:cubicBezTo>
                  <a:pt x="19800" y="3927"/>
                  <a:pt x="19800" y="17673"/>
                  <a:pt x="19800" y="17673"/>
                </a:cubicBezTo>
                <a:close/>
                <a:moveTo>
                  <a:pt x="19800" y="19636"/>
                </a:moveTo>
                <a:cubicBezTo>
                  <a:pt x="19800" y="20179"/>
                  <a:pt x="18993" y="20618"/>
                  <a:pt x="18000" y="20618"/>
                </a:cubicBezTo>
                <a:lnTo>
                  <a:pt x="3600" y="20618"/>
                </a:lnTo>
                <a:cubicBezTo>
                  <a:pt x="2605" y="20618"/>
                  <a:pt x="1800" y="20179"/>
                  <a:pt x="1800" y="19636"/>
                </a:cubicBezTo>
                <a:lnTo>
                  <a:pt x="1800" y="18655"/>
                </a:lnTo>
                <a:lnTo>
                  <a:pt x="19800" y="18655"/>
                </a:lnTo>
                <a:cubicBezTo>
                  <a:pt x="19800" y="18655"/>
                  <a:pt x="19800" y="19636"/>
                  <a:pt x="19800" y="19636"/>
                </a:cubicBezTo>
                <a:close/>
                <a:moveTo>
                  <a:pt x="18000" y="0"/>
                </a:moveTo>
                <a:lnTo>
                  <a:pt x="3600" y="0"/>
                </a:lnTo>
                <a:cubicBezTo>
                  <a:pt x="1612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612" y="21600"/>
                  <a:pt x="3600" y="21600"/>
                </a:cubicBezTo>
                <a:lnTo>
                  <a:pt x="18000" y="21600"/>
                </a:lnTo>
                <a:cubicBezTo>
                  <a:pt x="19988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19988" y="0"/>
                  <a:pt x="18000" y="0"/>
                </a:cubicBezTo>
                <a:moveTo>
                  <a:pt x="10800" y="20127"/>
                </a:moveTo>
                <a:cubicBezTo>
                  <a:pt x="11297" y="20127"/>
                  <a:pt x="11700" y="19908"/>
                  <a:pt x="11700" y="19636"/>
                </a:cubicBezTo>
                <a:cubicBezTo>
                  <a:pt x="11700" y="19366"/>
                  <a:pt x="11297" y="19145"/>
                  <a:pt x="10800" y="19145"/>
                </a:cubicBezTo>
                <a:cubicBezTo>
                  <a:pt x="10303" y="19145"/>
                  <a:pt x="9900" y="19366"/>
                  <a:pt x="9900" y="19636"/>
                </a:cubicBezTo>
                <a:cubicBezTo>
                  <a:pt x="9900" y="19908"/>
                  <a:pt x="10303" y="20127"/>
                  <a:pt x="10800" y="20127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19" name="Shape 4379">
            <a:extLst>
              <a:ext uri="{FF2B5EF4-FFF2-40B4-BE49-F238E27FC236}">
                <a16:creationId xmlns:a16="http://schemas.microsoft.com/office/drawing/2014/main" id="{E4408FF8-E342-42F8-BBE9-1220822B5E99}"/>
              </a:ext>
            </a:extLst>
          </p:cNvPr>
          <p:cNvSpPr/>
          <p:nvPr userDrawn="1"/>
        </p:nvSpPr>
        <p:spPr>
          <a:xfrm>
            <a:off x="6458938" y="4327945"/>
            <a:ext cx="258875" cy="188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8900"/>
                </a:moveTo>
                <a:cubicBezTo>
                  <a:pt x="20618" y="18980"/>
                  <a:pt x="20611" y="19058"/>
                  <a:pt x="20601" y="19135"/>
                </a:cubicBezTo>
                <a:lnTo>
                  <a:pt x="14539" y="10800"/>
                </a:lnTo>
                <a:lnTo>
                  <a:pt x="20601" y="2465"/>
                </a:lnTo>
                <a:cubicBezTo>
                  <a:pt x="20611" y="2542"/>
                  <a:pt x="20618" y="2620"/>
                  <a:pt x="20618" y="2700"/>
                </a:cubicBezTo>
                <a:cubicBezTo>
                  <a:pt x="20618" y="2700"/>
                  <a:pt x="20618" y="18900"/>
                  <a:pt x="20618" y="18900"/>
                </a:cubicBezTo>
                <a:close/>
                <a:moveTo>
                  <a:pt x="19636" y="20250"/>
                </a:moveTo>
                <a:lnTo>
                  <a:pt x="1964" y="20250"/>
                </a:lnTo>
                <a:cubicBezTo>
                  <a:pt x="1849" y="20250"/>
                  <a:pt x="1739" y="20218"/>
                  <a:pt x="1637" y="20168"/>
                </a:cubicBezTo>
                <a:lnTo>
                  <a:pt x="7755" y="11754"/>
                </a:lnTo>
                <a:lnTo>
                  <a:pt x="9440" y="14072"/>
                </a:lnTo>
                <a:cubicBezTo>
                  <a:pt x="9816" y="14589"/>
                  <a:pt x="10308" y="14847"/>
                  <a:pt x="10800" y="14847"/>
                </a:cubicBezTo>
                <a:cubicBezTo>
                  <a:pt x="11292" y="14847"/>
                  <a:pt x="11784" y="14589"/>
                  <a:pt x="12159" y="14072"/>
                </a:cubicBezTo>
                <a:lnTo>
                  <a:pt x="13845" y="11754"/>
                </a:lnTo>
                <a:lnTo>
                  <a:pt x="19964" y="20168"/>
                </a:lnTo>
                <a:cubicBezTo>
                  <a:pt x="19861" y="20218"/>
                  <a:pt x="19752" y="20250"/>
                  <a:pt x="19636" y="20250"/>
                </a:cubicBezTo>
                <a:moveTo>
                  <a:pt x="982" y="18900"/>
                </a:moveTo>
                <a:lnTo>
                  <a:pt x="982" y="2700"/>
                </a:lnTo>
                <a:cubicBezTo>
                  <a:pt x="982" y="2620"/>
                  <a:pt x="989" y="2542"/>
                  <a:pt x="999" y="2465"/>
                </a:cubicBezTo>
                <a:lnTo>
                  <a:pt x="7061" y="10800"/>
                </a:lnTo>
                <a:lnTo>
                  <a:pt x="999" y="19135"/>
                </a:lnTo>
                <a:cubicBezTo>
                  <a:pt x="989" y="19058"/>
                  <a:pt x="982" y="18980"/>
                  <a:pt x="982" y="18900"/>
                </a:cubicBezTo>
                <a:moveTo>
                  <a:pt x="1964" y="1350"/>
                </a:moveTo>
                <a:lnTo>
                  <a:pt x="19636" y="1350"/>
                </a:lnTo>
                <a:cubicBezTo>
                  <a:pt x="19752" y="1350"/>
                  <a:pt x="19861" y="1382"/>
                  <a:pt x="19964" y="1433"/>
                </a:cubicBezTo>
                <a:lnTo>
                  <a:pt x="11465" y="13118"/>
                </a:lnTo>
                <a:cubicBezTo>
                  <a:pt x="11288" y="13362"/>
                  <a:pt x="11051" y="13497"/>
                  <a:pt x="10800" y="13497"/>
                </a:cubicBezTo>
                <a:cubicBezTo>
                  <a:pt x="10549" y="13497"/>
                  <a:pt x="10312" y="13362"/>
                  <a:pt x="10134" y="13118"/>
                </a:cubicBezTo>
                <a:lnTo>
                  <a:pt x="1637" y="1433"/>
                </a:lnTo>
                <a:cubicBezTo>
                  <a:pt x="1739" y="1382"/>
                  <a:pt x="1849" y="1350"/>
                  <a:pt x="1964" y="1350"/>
                </a:cubicBezTo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209"/>
                  <a:pt x="0" y="2700"/>
                </a:cubicBezTo>
                <a:lnTo>
                  <a:pt x="0" y="18900"/>
                </a:lnTo>
                <a:cubicBezTo>
                  <a:pt x="0" y="2039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391"/>
                  <a:pt x="21600" y="18900"/>
                </a:cubicBezTo>
                <a:lnTo>
                  <a:pt x="21600" y="2700"/>
                </a:lnTo>
                <a:cubicBezTo>
                  <a:pt x="21600" y="1209"/>
                  <a:pt x="20721" y="0"/>
                  <a:pt x="19636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0" name="Shape 4487">
            <a:extLst>
              <a:ext uri="{FF2B5EF4-FFF2-40B4-BE49-F238E27FC236}">
                <a16:creationId xmlns:a16="http://schemas.microsoft.com/office/drawing/2014/main" id="{11D27456-C005-4109-9E74-0B692200A0B3}"/>
              </a:ext>
            </a:extLst>
          </p:cNvPr>
          <p:cNvSpPr/>
          <p:nvPr userDrawn="1"/>
        </p:nvSpPr>
        <p:spPr>
          <a:xfrm>
            <a:off x="6471716" y="4650082"/>
            <a:ext cx="233318" cy="2333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 defTabSz="457200">
              <a:lnSpc>
                <a:spcPct val="100000"/>
              </a:lnSpc>
              <a:defRPr sz="3000" spc="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 SemiBold"/>
                <a:ea typeface="Gill Sans SemiBold"/>
                <a:cs typeface="Gill Sans SemiBold"/>
                <a:sym typeface="Gill Sans SemiBold"/>
              </a:defRPr>
            </a:pPr>
            <a:endParaRPr lang="en-US" noProof="0" dirty="0"/>
          </a:p>
        </p:txBody>
      </p:sp>
      <p:sp>
        <p:nvSpPr>
          <p:cNvPr id="21" name="Right Triangle 20">
            <a:extLst>
              <a:ext uri="{FF2B5EF4-FFF2-40B4-BE49-F238E27FC236}">
                <a16:creationId xmlns:a16="http://schemas.microsoft.com/office/drawing/2014/main" id="{FDDD2B84-3CB9-4567-8C91-C538E8A1C89F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4EF3020-1476-41B1-9FE7-B476A25C53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1B64EC3-B232-415D-8E27-EB3E24D13922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261CE2F-F199-4242-AC6C-692676B81FF1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Picture Placeholder 24">
            <a:extLst>
              <a:ext uri="{FF2B5EF4-FFF2-40B4-BE49-F238E27FC236}">
                <a16:creationId xmlns:a16="http://schemas.microsoft.com/office/drawing/2014/main" id="{89C0506D-0CA6-4583-9D04-24E7F4D16A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83398" y="860944"/>
            <a:ext cx="4428523" cy="5137089"/>
          </a:xfrm>
          <a:custGeom>
            <a:avLst/>
            <a:gdLst>
              <a:gd name="connsiteX0" fmla="*/ 2214261 w 4428523"/>
              <a:gd name="connsiteY0" fmla="*/ 0 h 5137089"/>
              <a:gd name="connsiteX1" fmla="*/ 4428523 w 4428523"/>
              <a:gd name="connsiteY1" fmla="*/ 1107131 h 5137089"/>
              <a:gd name="connsiteX2" fmla="*/ 4428523 w 4428523"/>
              <a:gd name="connsiteY2" fmla="*/ 4029957 h 5137089"/>
              <a:gd name="connsiteX3" fmla="*/ 2214261 w 4428523"/>
              <a:gd name="connsiteY3" fmla="*/ 5137089 h 5137089"/>
              <a:gd name="connsiteX4" fmla="*/ 0 w 4428523"/>
              <a:gd name="connsiteY4" fmla="*/ 4029957 h 5137089"/>
              <a:gd name="connsiteX5" fmla="*/ 0 w 4428523"/>
              <a:gd name="connsiteY5" fmla="*/ 1107131 h 51370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28523" h="5137089">
                <a:moveTo>
                  <a:pt x="2214261" y="0"/>
                </a:moveTo>
                <a:lnTo>
                  <a:pt x="4428523" y="1107131"/>
                </a:lnTo>
                <a:lnTo>
                  <a:pt x="4428523" y="4029957"/>
                </a:lnTo>
                <a:lnTo>
                  <a:pt x="2214261" y="5137089"/>
                </a:lnTo>
                <a:lnTo>
                  <a:pt x="0" y="4029957"/>
                </a:lnTo>
                <a:lnTo>
                  <a:pt x="0" y="1107131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390512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5721" y="2006084"/>
            <a:ext cx="4853573" cy="1616252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 title="Subtitle">
            <a:extLst>
              <a:ext uri="{FF2B5EF4-FFF2-40B4-BE49-F238E27FC236}">
                <a16:creationId xmlns:a16="http://schemas.microsoft.com/office/drawing/2014/main" id="{06317687-D49E-41F7-A330-C78C728F0D1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375214" y="3640998"/>
            <a:ext cx="4854339" cy="125757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0920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3B31A5E-1244-4689-B513-C78E3C4E53B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71D0E8AA-902F-440D-9C55-2A391C22396A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Parallelogram 16">
            <a:extLst>
              <a:ext uri="{FF2B5EF4-FFF2-40B4-BE49-F238E27FC236}">
                <a16:creationId xmlns:a16="http://schemas.microsoft.com/office/drawing/2014/main" id="{7D937721-835D-4D84-94A3-6C79D4639514}"/>
              </a:ext>
            </a:extLst>
          </p:cNvPr>
          <p:cNvSpPr/>
          <p:nvPr userDrawn="1"/>
        </p:nvSpPr>
        <p:spPr>
          <a:xfrm rot="19958790">
            <a:off x="-637324" y="3588176"/>
            <a:ext cx="3860162" cy="1746952"/>
          </a:xfrm>
          <a:prstGeom prst="parallelogram">
            <a:avLst>
              <a:gd name="adj" fmla="val 53218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32BB30B-8262-4715-998F-AAF6A81ADFD3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1010090"/>
            <a:ext cx="1785257" cy="9075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itle 1" title="Title">
            <a:extLst>
              <a:ext uri="{FF2B5EF4-FFF2-40B4-BE49-F238E27FC236}">
                <a16:creationId xmlns:a16="http://schemas.microsoft.com/office/drawing/2014/main" id="{4D7EF399-DAA5-44EC-B712-79C755FE84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3842" y="1987420"/>
            <a:ext cx="4911633" cy="1789855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>
                <a:solidFill>
                  <a:schemeClr val="accent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1" name="Text Placeholder 2" title="Subtitle">
            <a:extLst>
              <a:ext uri="{FF2B5EF4-FFF2-40B4-BE49-F238E27FC236}">
                <a16:creationId xmlns:a16="http://schemas.microsoft.com/office/drawing/2014/main" id="{26D13BFA-61B0-402F-8611-02D3DFDBEBC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283842" y="3792046"/>
            <a:ext cx="4911633" cy="910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000" b="0" i="0" spc="30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EDIT MASTER TEXT STYLES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0A0C24-D997-4E78-951F-AFB51C70EFC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Parallelogram 24">
            <a:extLst>
              <a:ext uri="{FF2B5EF4-FFF2-40B4-BE49-F238E27FC236}">
                <a16:creationId xmlns:a16="http://schemas.microsoft.com/office/drawing/2014/main" id="{E123A0CF-50D6-46EC-8BF6-43E38AFCD588}"/>
              </a:ext>
            </a:extLst>
          </p:cNvPr>
          <p:cNvSpPr/>
          <p:nvPr userDrawn="1"/>
        </p:nvSpPr>
        <p:spPr>
          <a:xfrm>
            <a:off x="7754112" y="0"/>
            <a:ext cx="2258568" cy="742819"/>
          </a:xfrm>
          <a:prstGeom prst="parallelogram">
            <a:avLst>
              <a:gd name="adj" fmla="val 19585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noProof="0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2F1D2E-B631-4CB1-9448-2B50F8C46316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408562"/>
            <a:ext cx="6595353" cy="3403148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CF69447-82AD-475F-A3AE-3D7FF61DBFE2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5266944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FC8C82F3-94EE-4B4F-A01D-993A41BC00B1}"/>
              </a:ext>
            </a:extLst>
          </p:cNvPr>
          <p:cNvSpPr/>
          <p:nvPr userDrawn="1"/>
        </p:nvSpPr>
        <p:spPr>
          <a:xfrm rot="19958790">
            <a:off x="-139035" y="3407045"/>
            <a:ext cx="1438399" cy="236580"/>
          </a:xfrm>
          <a:prstGeom prst="parallelogram">
            <a:avLst>
              <a:gd name="adj" fmla="val 53218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2891791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83">
          <p15:clr>
            <a:srgbClr val="FBAE40"/>
          </p15:clr>
        </p15:guide>
        <p15:guide id="2" pos="3840">
          <p15:clr>
            <a:srgbClr val="FBAE40"/>
          </p15:clr>
        </p15:guide>
        <p15:guide id="3" pos="143">
          <p15:clr>
            <a:srgbClr val="FBAE40"/>
          </p15:clr>
        </p15:guide>
        <p15:guide id="4" orient="horz" pos="4170">
          <p15:clr>
            <a:srgbClr val="FBAE40"/>
          </p15:clr>
        </p15:guide>
        <p15:guide id="5" pos="7537">
          <p15:clr>
            <a:srgbClr val="FBAE40"/>
          </p15:clr>
        </p15:guide>
        <p15:guide id="6" orient="horz" pos="14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1FAE0C34-9220-45F0-9FC2-9FE7C994E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78" y="1671924"/>
            <a:ext cx="10835122" cy="450503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745963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217F9213-0142-420B-A84D-C5627A0C81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687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8014328B-D576-4B5C-A4AE-CF9831892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651044"/>
            <a:ext cx="5181600" cy="452591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47377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9111EB29-9262-4594-8717-356AB3816AA6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AF1CF9-9F46-4541-8FF1-B9C53244EE1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-9247" y="3633967"/>
            <a:ext cx="1912619" cy="1572989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B0E1BA4-80FE-4826-BA2F-083C3A5BB7F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6" name="Diagonal Stripe 25">
              <a:extLst>
                <a:ext uri="{FF2B5EF4-FFF2-40B4-BE49-F238E27FC236}">
                  <a16:creationId xmlns:a16="http://schemas.microsoft.com/office/drawing/2014/main" id="{0697993E-CD44-40B9-805C-77BC608618A7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DDBD869A-51AE-4AC9-A3E0-38E8C732B1E8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DE18C3B6-28E6-4BBC-B634-F81DE5A9D13C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6" name="Parallelogram 35">
            <a:extLst>
              <a:ext uri="{FF2B5EF4-FFF2-40B4-BE49-F238E27FC236}">
                <a16:creationId xmlns:a16="http://schemas.microsoft.com/office/drawing/2014/main" id="{4EBB76E7-943E-4038-B700-114F66FBC609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3E79E9C-D961-6E47-A5C6-57689BAFF24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BE157-60F2-194D-8C13-4AE120FC9ED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27" name="Title 1" title="Title ">
            <a:extLst>
              <a:ext uri="{FF2B5EF4-FFF2-40B4-BE49-F238E27FC236}">
                <a16:creationId xmlns:a16="http://schemas.microsoft.com/office/drawing/2014/main" id="{C3CC34F4-862A-42E7-B2FA-7B511CC2E8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678" y="209028"/>
            <a:ext cx="8333222" cy="1147969"/>
          </a:xfrm>
          <a:prstGeom prst="rect">
            <a:avLst/>
          </a:prstGeom>
        </p:spPr>
        <p:txBody>
          <a:bodyPr bIns="0" anchor="b">
            <a:normAutofit/>
          </a:bodyPr>
          <a:lstStyle>
            <a:lvl1pPr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 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82BFF385-445D-4DBB-9773-F9966941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678" y="1681163"/>
            <a:ext cx="538250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b="1" dirty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311B1CFE-1B35-4B5C-B40A-DC5ADF211B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5">
            <a:extLst>
              <a:ext uri="{FF2B5EF4-FFF2-40B4-BE49-F238E27FC236}">
                <a16:creationId xmlns:a16="http://schemas.microsoft.com/office/drawing/2014/main" id="{1CE840E8-D596-479D-AE97-E88F42DC1B1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" name="Content Placeholder 3">
            <a:extLst>
              <a:ext uri="{FF2B5EF4-FFF2-40B4-BE49-F238E27FC236}">
                <a16:creationId xmlns:a16="http://schemas.microsoft.com/office/drawing/2014/main" id="{B9A68D25-B19E-4E84-B65D-596EE8382D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678" y="2505075"/>
            <a:ext cx="5391749" cy="368458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606950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93">
          <p15:clr>
            <a:srgbClr val="FBAE40"/>
          </p15:clr>
        </p15:guide>
        <p15:guide id="4" pos="7423">
          <p15:clr>
            <a:srgbClr val="FBAE40"/>
          </p15:clr>
        </p15:guide>
        <p15:guide id="5" orient="horz" pos="777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C9A1E80C-1A76-4D3E-92A1-846866867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1316" y="2290713"/>
            <a:ext cx="5803672" cy="434186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065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E1099AB-ABB9-4706-9E38-357EC2AB403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037924D2-2AB4-4BE1-9687-836615C72DFC}"/>
              </a:ext>
            </a:extLst>
          </p:cNvPr>
          <p:cNvSpPr/>
          <p:nvPr userDrawn="1"/>
        </p:nvSpPr>
        <p:spPr>
          <a:xfrm flipV="1">
            <a:off x="0" y="-6"/>
            <a:ext cx="10625328" cy="540411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93BC534-BFA1-4292-899F-03AC711BF7C5}"/>
              </a:ext>
            </a:extLst>
          </p:cNvPr>
          <p:cNvCxnSpPr>
            <a:cxnSpLocks/>
          </p:cNvCxnSpPr>
          <p:nvPr userDrawn="1"/>
        </p:nvCxnSpPr>
        <p:spPr>
          <a:xfrm flipV="1">
            <a:off x="0" y="0"/>
            <a:ext cx="6030686" cy="300445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BEE4DB5-5DEF-4DDB-9764-FD834B9DCAEC}"/>
              </a:ext>
            </a:extLst>
          </p:cNvPr>
          <p:cNvCxnSpPr>
            <a:cxnSpLocks/>
          </p:cNvCxnSpPr>
          <p:nvPr userDrawn="1"/>
        </p:nvCxnSpPr>
        <p:spPr>
          <a:xfrm flipV="1">
            <a:off x="9004301" y="3924299"/>
            <a:ext cx="3187700" cy="16891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 title="Title">
            <a:extLst>
              <a:ext uri="{FF2B5EF4-FFF2-40B4-BE49-F238E27FC236}">
                <a16:creationId xmlns:a16="http://schemas.microsoft.com/office/drawing/2014/main" id="{A648E0EA-49ED-4F2D-A107-8FCE6301FC8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19170" y="4374036"/>
            <a:ext cx="5311516" cy="132703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 algn="r">
              <a:buFont typeface="Arial" panose="020B0604020202020204" pitchFamily="34" charset="0"/>
              <a:buNone/>
              <a:defRPr sz="4300" b="1">
                <a:solidFill>
                  <a:schemeClr val="accent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2849C0-AA0D-4E1A-B4B6-E6A5917AC0A5}"/>
              </a:ext>
            </a:extLst>
          </p:cNvPr>
          <p:cNvCxnSpPr>
            <a:cxnSpLocks/>
          </p:cNvCxnSpPr>
          <p:nvPr userDrawn="1"/>
        </p:nvCxnSpPr>
        <p:spPr>
          <a:xfrm flipV="1">
            <a:off x="-17837" y="4700016"/>
            <a:ext cx="1919789" cy="100105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BDEAC3CA-E21C-4A63-BE7D-DCC820552A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19170" y="5701069"/>
            <a:ext cx="5311516" cy="931505"/>
          </a:xfrm>
          <a:prstGeom prst="rect">
            <a:avLst/>
          </a:prstGeo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22728E0A-430E-4C6A-BF56-06FA8510F2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49970" y="2271860"/>
            <a:ext cx="5715017" cy="436071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3908403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7537">
          <p15:clr>
            <a:srgbClr val="FBAE40"/>
          </p15:clr>
        </p15:guide>
        <p15:guide id="3" pos="138">
          <p15:clr>
            <a:srgbClr val="FBAE40"/>
          </p15:clr>
        </p15:guide>
        <p15:guide id="4" orient="horz" pos="4178">
          <p15:clr>
            <a:srgbClr val="FBAE40"/>
          </p15:clr>
        </p15:guide>
        <p15:guide id="5" orient="horz" pos="142">
          <p15:clr>
            <a:srgbClr val="FBAE40"/>
          </p15:clr>
        </p15:guide>
        <p15:guide id="6" pos="2457">
          <p15:clr>
            <a:srgbClr val="FBAE40"/>
          </p15:clr>
        </p15:guide>
        <p15:guide id="7" pos="438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7A5C384-78D0-4088-9411-AB6790574770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A0030CD-8C9E-4AA5-8C5D-F9B2EDB7E17A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7" name="Diagonal Stripe 26">
              <a:extLst>
                <a:ext uri="{FF2B5EF4-FFF2-40B4-BE49-F238E27FC236}">
                  <a16:creationId xmlns:a16="http://schemas.microsoft.com/office/drawing/2014/main" id="{872EE65E-EE50-4A3E-861E-1D6C241CB8EA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E76AD1EF-E06C-4D3C-9693-26844D01C83C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Parallelogram 28">
              <a:extLst>
                <a:ext uri="{FF2B5EF4-FFF2-40B4-BE49-F238E27FC236}">
                  <a16:creationId xmlns:a16="http://schemas.microsoft.com/office/drawing/2014/main" id="{57D44C42-44C0-420A-A125-9B1A979D4F56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Parallelogram 29">
            <a:extLst>
              <a:ext uri="{FF2B5EF4-FFF2-40B4-BE49-F238E27FC236}">
                <a16:creationId xmlns:a16="http://schemas.microsoft.com/office/drawing/2014/main" id="{406089BB-36DC-4E23-B215-527A8A18FCF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78C43A6-50C6-704E-BADC-6D83BADE73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91439B-965F-3548-AF77-89501B24F6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19906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58419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85BB0367-1AFD-4191-AB6F-E9815D136F6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B2FB48C-0C70-4DBE-B904-A134B6644DD3}"/>
              </a:ext>
            </a:extLst>
          </p:cNvPr>
          <p:cNvGrpSpPr/>
          <p:nvPr userDrawn="1"/>
        </p:nvGrpSpPr>
        <p:grpSpPr>
          <a:xfrm flipH="1">
            <a:off x="7561328" y="0"/>
            <a:ext cx="4831840" cy="3541007"/>
            <a:chOff x="-192127" y="-2"/>
            <a:chExt cx="4831840" cy="3367272"/>
          </a:xfrm>
        </p:grpSpPr>
        <p:sp>
          <p:nvSpPr>
            <p:cNvPr id="28" name="Diagonal Stripe 27">
              <a:extLst>
                <a:ext uri="{FF2B5EF4-FFF2-40B4-BE49-F238E27FC236}">
                  <a16:creationId xmlns:a16="http://schemas.microsoft.com/office/drawing/2014/main" id="{4F2E2158-1E6E-4E0D-BDAB-B20041C73615}"/>
                </a:ext>
              </a:extLst>
            </p:cNvPr>
            <p:cNvSpPr/>
            <p:nvPr userDrawn="1"/>
          </p:nvSpPr>
          <p:spPr>
            <a:xfrm>
              <a:off x="0" y="-1"/>
              <a:ext cx="4639713" cy="3367271"/>
            </a:xfrm>
            <a:prstGeom prst="diagStripe">
              <a:avLst>
                <a:gd name="adj" fmla="val 51202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>
                <a:solidFill>
                  <a:schemeClr val="tx1"/>
                </a:solidFill>
              </a:endParaRP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626D62DB-3A5A-4DA1-BFA4-D9E58676E86A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1433638" y="-2"/>
              <a:ext cx="1240971" cy="91659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Parallelogram 29">
              <a:extLst>
                <a:ext uri="{FF2B5EF4-FFF2-40B4-BE49-F238E27FC236}">
                  <a16:creationId xmlns:a16="http://schemas.microsoft.com/office/drawing/2014/main" id="{F5A729A7-3A5C-405C-AE06-180E7529E477}"/>
                </a:ext>
              </a:extLst>
            </p:cNvPr>
            <p:cNvSpPr/>
            <p:nvPr userDrawn="1"/>
          </p:nvSpPr>
          <p:spPr>
            <a:xfrm rot="19421162">
              <a:off x="-192127" y="1140864"/>
              <a:ext cx="1354398" cy="214994"/>
            </a:xfrm>
            <a:prstGeom prst="parallelogram">
              <a:avLst>
                <a:gd name="adj" fmla="val 72003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41E23981-B12A-4AC3-A030-337BBBA5E45B}"/>
              </a:ext>
            </a:extLst>
          </p:cNvPr>
          <p:cNvSpPr/>
          <p:nvPr userDrawn="1"/>
        </p:nvSpPr>
        <p:spPr>
          <a:xfrm flipH="1">
            <a:off x="6679908" y="1"/>
            <a:ext cx="1447800" cy="639064"/>
          </a:xfrm>
          <a:prstGeom prst="parallelogram">
            <a:avLst>
              <a:gd name="adj" fmla="val 13561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69A007-934D-7A4B-9EFA-82044EF4DC3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154DC2-98C7-4D4B-A17A-AA4731217F1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99F50C-BE38-4BD0-BA84-9B090E1F2B9B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4D604A2-C574-42DB-B0C4-99715CAA1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8330184" cy="114796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0A2D954-332B-47D0-BE9F-0F2BDE7795D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26131" y="1979613"/>
            <a:ext cx="9139738" cy="2898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653408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42">
          <p15:clr>
            <a:srgbClr val="FBAE40"/>
          </p15:clr>
        </p15:guide>
        <p15:guide id="2" pos="3840">
          <p15:clr>
            <a:srgbClr val="FBAE40"/>
          </p15:clr>
        </p15:guide>
        <p15:guide id="3" pos="778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AB3FE-9015-40FD-A870-D81B5A86A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58918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B16155-303B-403D-8B49-D4CEE47D68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853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915EF5-4ABE-4759-AC09-679CD6083A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6971" y="6356350"/>
            <a:ext cx="7402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8699F50C-BE38-4BD0-BA84-9B090E1F2B9B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9" name="Title Placeholder 8">
            <a:extLst>
              <a:ext uri="{FF2B5EF4-FFF2-40B4-BE49-F238E27FC236}">
                <a16:creationId xmlns:a16="http://schemas.microsoft.com/office/drawing/2014/main" id="{AA2D2B61-D240-024D-AD60-4162EF152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78" y="209029"/>
            <a:ext cx="10835122" cy="1147968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64885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85" r:id="rId3"/>
    <p:sldLayoutId id="2147483706" r:id="rId4"/>
    <p:sldLayoutId id="2147483708" r:id="rId5"/>
    <p:sldLayoutId id="2147483704" r:id="rId6"/>
    <p:sldLayoutId id="2147483689" r:id="rId7"/>
    <p:sldLayoutId id="2147483668" r:id="rId8"/>
    <p:sldLayoutId id="2147483707" r:id="rId9"/>
    <p:sldLayoutId id="2147483710" r:id="rId10"/>
    <p:sldLayoutId id="2147483709" r:id="rId11"/>
    <p:sldLayoutId id="2147483711" r:id="rId12"/>
    <p:sldLayoutId id="2147483712" r:id="rId13"/>
    <p:sldLayoutId id="2147483713" r:id="rId14"/>
    <p:sldLayoutId id="2147483714" r:id="rId15"/>
    <p:sldLayoutId id="2147483715" r:id="rId16"/>
    <p:sldLayoutId id="2147483692" r:id="rId17"/>
    <p:sldLayoutId id="2147483697" r:id="rId18"/>
    <p:sldLayoutId id="2147483716" r:id="rId19"/>
    <p:sldLayoutId id="2147483674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IN" sz="44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2E7A40"/>
        </a:buClr>
        <a:buFont typeface="Arial" panose="020B0604020202020204" pitchFamily="34" charset="0"/>
        <a:buChar char="•"/>
        <a:defRPr lang="en-US" sz="2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20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8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2E7A40"/>
        </a:buClr>
        <a:buFont typeface="Arial" panose="020B0604020202020204" pitchFamily="34" charset="0"/>
        <a:buChar char="•"/>
        <a:defRPr lang="en-IN" sz="16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fpds.gov/ezsearch/fpdsportal?indexName=awardfull&amp;templateName=1.5.2&amp;s=FPDS.GOV&amp;q=+SIGNED_DATE%3A%5B2022%2F03%2F05%2C2022%2F03%2F05%5D&amp;x=0&amp;y=0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2" Type="http://schemas.openxmlformats.org/officeDocument/2006/relationships/hyperlink" Target="https://www.fpds.gov/ezsearch/fpdsportal?q=+SIGNED_DATE%3A%5B2022%2F03%2F05%2C2022%2F03%2F05%5D+PIID%3A%220003%22&amp;s=FPDS.GOV&amp;templateName=1.5.2&amp;indexName=awardfull&amp;x=0&amp;y=0" TargetMode="Externa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5" Type="http://schemas.openxmlformats.org/officeDocument/2006/relationships/image" Target="../media/image8.png"/><Relationship Id="rId4" Type="http://schemas.openxmlformats.org/officeDocument/2006/relationships/customXml" Target="../ink/ink1.xml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fpds.gov/ezsearch/fpdsportal?q=+SIGNED_DATE%3A%5B2022%2F03%2F05%2C2022%2F03%2F05%5D+PIID%3A%220003%22&amp;s=FPDS.GOV&amp;templateName=1.5.2&amp;indexName=awardfull&amp;x=0&amp;y=0" TargetMode="Externa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fpds.gov/ezsearch/fpdsportal?q=+SIGNED_DATE%3A%5B2022%2F03%2F05%2C2022%2F03%2F05%5D+PIID%3A%220003%22&amp;s=FPDS.GOV&amp;templateName=1.5.2&amp;indexName=awardfull&amp;x=0&amp;y=0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www.fpds.gov/ezsearch/fpdsportal?q=+SIGNED_DATE%3A%5B2022%2F03%2F05%2C2022%2F03%2F05%5D+PIID%3A%220003%22&amp;s=FPDS.GOV&amp;templateName=1.5.2&amp;indexName=awardfull&amp;x=0&amp;y=0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hyperlink" Target="https://www.fpds.gov/ezsearch/fpdsportal?q=+SIGNED_DATE%3A%5B2022%2F03%2F05%2C2022%2F03%2F05%5D+PIID%3A%220003%22&amp;s=FPDS.GOV&amp;templateName=1.5.2&amp;indexName=awardfull&amp;x=0&amp;y=0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Building image">
            <a:extLst>
              <a:ext uri="{FF2B5EF4-FFF2-40B4-BE49-F238E27FC236}">
                <a16:creationId xmlns:a16="http://schemas.microsoft.com/office/drawing/2014/main" id="{257F6BCE-75BB-4ECD-BEA5-21C36A9CC0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5000"/>
                    </a14:imgEffect>
                  </a14:imgLayer>
                </a14:imgProps>
              </a:ext>
            </a:extLst>
          </a:blip>
          <a:srcRect l="20743" r="20743"/>
          <a:stretch>
            <a:fillRect/>
          </a:stretch>
        </p:blipFill>
        <p:spPr/>
      </p:pic>
      <p:grpSp>
        <p:nvGrpSpPr>
          <p:cNvPr id="19" name="Group 18" descr="Company name and logo group of information&#10;">
            <a:extLst>
              <a:ext uri="{FF2B5EF4-FFF2-40B4-BE49-F238E27FC236}">
                <a16:creationId xmlns:a16="http://schemas.microsoft.com/office/drawing/2014/main" id="{5B07AEC6-55AE-4E18-BEEA-A226E87C7897}"/>
              </a:ext>
            </a:extLst>
          </p:cNvPr>
          <p:cNvGrpSpPr/>
          <p:nvPr/>
        </p:nvGrpSpPr>
        <p:grpSpPr>
          <a:xfrm>
            <a:off x="2369976" y="2421032"/>
            <a:ext cx="3125755" cy="2015936"/>
            <a:chOff x="2993173" y="2902286"/>
            <a:chExt cx="3321000" cy="201593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DF2E04-7632-4FED-B0BF-8FB243D982A3}"/>
                </a:ext>
              </a:extLst>
            </p:cNvPr>
            <p:cNvSpPr txBox="1"/>
            <p:nvPr/>
          </p:nvSpPr>
          <p:spPr>
            <a:xfrm>
              <a:off x="3238428" y="2902286"/>
              <a:ext cx="184731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6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C9A1C71-347B-44A9-88B4-692D9731582D}"/>
                </a:ext>
              </a:extLst>
            </p:cNvPr>
            <p:cNvSpPr txBox="1"/>
            <p:nvPr/>
          </p:nvSpPr>
          <p:spPr>
            <a:xfrm>
              <a:off x="2993173" y="3102340"/>
              <a:ext cx="3321000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tantia" panose="02030602050306030303" pitchFamily="18" charset="0"/>
                  <a:cs typeface="Calibri Light" panose="020F0302020204030204" pitchFamily="34" charset="0"/>
                </a:rPr>
                <a:t>Web Scraping with Python in Azure Data Studio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D638ACE-163E-40EB-A458-E794C67EA2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/>
              <a:t>Federal Procurement Data Systems (FPDS)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9205DF-8F5E-49F7-B00E-6F58293F51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/>
              <a:t>Market Research Analysis Model</a:t>
            </a:r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97DE6AEE-D202-4BC1-95E2-8203D0FFB7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41092" y="4666331"/>
            <a:ext cx="857370" cy="9240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1B761F5-3A78-4351-ABDE-E0848AF4B8F3}"/>
              </a:ext>
            </a:extLst>
          </p:cNvPr>
          <p:cNvSpPr txBox="1"/>
          <p:nvPr/>
        </p:nvSpPr>
        <p:spPr>
          <a:xfrm>
            <a:off x="9713167" y="5590385"/>
            <a:ext cx="1735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David Clerk</a:t>
            </a:r>
          </a:p>
          <a:p>
            <a:r>
              <a:rPr lang="en-US" dirty="0"/>
              <a:t>202201-DSI-WE</a:t>
            </a:r>
          </a:p>
          <a:p>
            <a:r>
              <a:rPr lang="en-US" dirty="0"/>
              <a:t>March 18, 2022</a:t>
            </a:r>
          </a:p>
        </p:txBody>
      </p:sp>
    </p:spTree>
    <p:extLst>
      <p:ext uri="{BB962C8B-B14F-4D97-AF65-F5344CB8AC3E}">
        <p14:creationId xmlns:p14="http://schemas.microsoft.com/office/powerpoint/2010/main" val="398069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BE11BF-33A5-4653-A144-CCCBACF5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78" y="1241109"/>
            <a:ext cx="7342622" cy="1100875"/>
          </a:xfrm>
        </p:spPr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Use Case - Summary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3469036-D1FB-4164-96AE-B6D8CECCFC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1379" y="2341984"/>
            <a:ext cx="7342631" cy="745165"/>
          </a:xfrm>
        </p:spPr>
        <p:txBody>
          <a:bodyPr>
            <a:normAutofit/>
          </a:bodyPr>
          <a:lstStyle/>
          <a:p>
            <a:pPr>
              <a:lnSpc>
                <a:spcPct val="50000"/>
              </a:lnSpc>
            </a:pPr>
            <a:r>
              <a:rPr lang="en-US" b="1" dirty="0"/>
              <a:t>Government Contracting Market Research</a:t>
            </a:r>
          </a:p>
          <a:p>
            <a:pPr>
              <a:lnSpc>
                <a:spcPct val="50000"/>
              </a:lnSpc>
            </a:pPr>
            <a:r>
              <a:rPr lang="en-US" b="1" dirty="0"/>
              <a:t>For Small Businesses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482DBEC-EE72-4155-ACC5-87E80C560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251536"/>
            <a:ext cx="7073071" cy="3104814"/>
          </a:xfrm>
        </p:spPr>
        <p:txBody>
          <a:bodyPr>
            <a:normAutofit lnSpcReduction="10000"/>
          </a:bodyPr>
          <a:lstStyle/>
          <a:p>
            <a:r>
              <a:rPr lang="en-US" sz="2200" dirty="0"/>
              <a:t>Less Than 25% Of Government Contracts Are Awarded To Small Businesses</a:t>
            </a:r>
          </a:p>
          <a:p>
            <a:pPr lvl="0"/>
            <a:r>
              <a:rPr lang="en-US" sz="2200" dirty="0"/>
              <a:t>Support Small Businesses As Engines For Economic Development</a:t>
            </a:r>
          </a:p>
          <a:p>
            <a:pPr lvl="0"/>
            <a:r>
              <a:rPr lang="en-US" sz="2200" dirty="0"/>
              <a:t>Gain Access To The Ingenuity That Small Business Provide</a:t>
            </a:r>
          </a:p>
          <a:p>
            <a:pPr lvl="0"/>
            <a:r>
              <a:rPr lang="en-US" sz="2200" dirty="0"/>
              <a:t>Offer Opportunities To Disadvantaged Socio-economic Groups</a:t>
            </a:r>
          </a:p>
          <a:p>
            <a:pPr lvl="0"/>
            <a:r>
              <a:rPr lang="en-US" sz="2200" dirty="0"/>
              <a:t>Government Contracts Can Provide Residual Revenue Source Via Sole-Source Contracts</a:t>
            </a:r>
          </a:p>
        </p:txBody>
      </p:sp>
      <p:pic>
        <p:nvPicPr>
          <p:cNvPr id="13" name="Picture Placeholder 12" title="Skyline">
            <a:extLst>
              <a:ext uri="{FF2B5EF4-FFF2-40B4-BE49-F238E27FC236}">
                <a16:creationId xmlns:a16="http://schemas.microsoft.com/office/drawing/2014/main" id="{066FE296-3466-420F-AD6C-D3A37B973B7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 l="23313" r="23313"/>
          <a:stretch/>
        </p:blipFill>
        <p:spPr>
          <a:xfrm>
            <a:off x="6604000" y="0"/>
            <a:ext cx="5588000" cy="6872249"/>
          </a:xfr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7F4D2C2-B71A-4089-A3FE-603C32706CA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dirty="0"/>
              <a:t>https://www.sba.gov/federal-contracting/contracting-guide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FBA1BB58-7555-4382-B178-7ED04E137E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005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Placeholder 58" title="Buildings">
            <a:extLst>
              <a:ext uri="{FF2B5EF4-FFF2-40B4-BE49-F238E27FC236}">
                <a16:creationId xmlns:a16="http://schemas.microsoft.com/office/drawing/2014/main" id="{3FCCC668-2247-4814-9CC5-9C5D4B447AA3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2"/>
          <a:srcRect l="13492" r="13492"/>
          <a:stretch/>
        </p:blipFill>
        <p:spPr/>
      </p:pic>
      <p:sp>
        <p:nvSpPr>
          <p:cNvPr id="42" name="Content Placeholder 6">
            <a:extLst>
              <a:ext uri="{FF2B5EF4-FFF2-40B4-BE49-F238E27FC236}">
                <a16:creationId xmlns:a16="http://schemas.microsoft.com/office/drawing/2014/main" id="{55EACD59-7C51-4810-94C6-BCB4D12346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1378" y="3251536"/>
            <a:ext cx="4942829" cy="2958275"/>
          </a:xfrm>
        </p:spPr>
        <p:txBody>
          <a:bodyPr>
            <a:normAutofit lnSpcReduction="10000"/>
          </a:bodyPr>
          <a:lstStyle/>
          <a:p>
            <a:pPr lvl="0"/>
            <a:r>
              <a:rPr lang="en-US" dirty="0"/>
              <a:t>Requirements For Contracting Are Cumbersome</a:t>
            </a:r>
          </a:p>
          <a:p>
            <a:pPr lvl="0"/>
            <a:r>
              <a:rPr lang="en-US" dirty="0"/>
              <a:t>Prerequisites For Federal Contract Bidding Have Costly Overhead</a:t>
            </a:r>
          </a:p>
          <a:p>
            <a:pPr lvl="0"/>
            <a:r>
              <a:rPr lang="en-US" dirty="0"/>
              <a:t>Contract Awarding Is Not Guaranteed to Have A ROI</a:t>
            </a:r>
          </a:p>
          <a:p>
            <a:pPr lvl="0"/>
            <a:r>
              <a:rPr lang="en-US" dirty="0"/>
              <a:t>Market Drivers Are Vague </a:t>
            </a:r>
            <a:r>
              <a:rPr lang="en-US" dirty="0" err="1"/>
              <a:t>And/Or</a:t>
            </a:r>
            <a:r>
              <a:rPr lang="en-US" dirty="0"/>
              <a:t> Misleading</a:t>
            </a:r>
          </a:p>
        </p:txBody>
      </p:sp>
      <p:sp>
        <p:nvSpPr>
          <p:cNvPr id="43" name="Text Placeholder 8">
            <a:extLst>
              <a:ext uri="{FF2B5EF4-FFF2-40B4-BE49-F238E27FC236}">
                <a16:creationId xmlns:a16="http://schemas.microsoft.com/office/drawing/2014/main" id="{EA7C22CB-613A-4C0B-90B3-4A405F793D3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Major Factors Preventing Small Businesses From Competing For Federal Government Contracts</a:t>
            </a:r>
          </a:p>
        </p:txBody>
      </p:sp>
      <p:sp>
        <p:nvSpPr>
          <p:cNvPr id="41" name="Title 3">
            <a:extLst>
              <a:ext uri="{FF2B5EF4-FFF2-40B4-BE49-F238E27FC236}">
                <a16:creationId xmlns:a16="http://schemas.microsoft.com/office/drawing/2014/main" id="{1ABD613F-111C-41D6-9F8E-8B2C42A5E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378" y="1018077"/>
            <a:ext cx="7342622" cy="1215566"/>
          </a:xfrm>
        </p:spPr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Drivers For Improvement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67D224-5586-43DC-82CA-8605E15829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466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E3E5EE03-FBF6-46F5-8085-716AC6CE1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048" y="209028"/>
            <a:ext cx="7475852" cy="1147969"/>
          </a:xfrm>
        </p:spPr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FFBS Solution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FE11F38-F66B-4F95-8224-6CCA69D5761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BFBFBF"/>
                </a:solidFill>
              </a:rPr>
              <a:t>Fully Functional Business Solutions (FFBS)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4E18385-8BEA-4522-ABAA-5AB38F0D4F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618" y="1869996"/>
            <a:ext cx="4655890" cy="60889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Approach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1DCFA8A2-3FB8-48CA-933D-0800A9D2A2A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520493" y="2595957"/>
            <a:ext cx="5475290" cy="3232149"/>
          </a:xfrm>
        </p:spPr>
        <p:txBody>
          <a:bodyPr/>
          <a:lstStyle/>
          <a:p>
            <a:pPr>
              <a:buClr>
                <a:schemeClr val="accent2"/>
              </a:buClr>
            </a:pPr>
            <a:r>
              <a:rPr lang="en-US" b="1" dirty="0">
                <a:solidFill>
                  <a:srgbClr val="BFBFBF"/>
                </a:solidFill>
              </a:rPr>
              <a:t>Cost Effective Consultations 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Identify the products that are the right form, fit, and function for your business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Assist with assessments and administrative requirements for requirements gathering and generating proposals.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Reduce costs and overhead associated the bidding for contracts.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Remove the need for costly </a:t>
            </a:r>
            <a:r>
              <a:rPr lang="en-US" dirty="0" err="1"/>
              <a:t>rangled</a:t>
            </a:r>
            <a:r>
              <a:rPr lang="en-US" dirty="0"/>
              <a:t> </a:t>
            </a:r>
            <a:r>
              <a:rPr lang="en-US" dirty="0" err="1"/>
              <a:t>subcriptions</a:t>
            </a:r>
            <a:r>
              <a:rPr lang="en-US" dirty="0"/>
              <a:t> to public data.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40A3223-3DA3-4CF2-82B6-1447667547B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6219" y="1814769"/>
            <a:ext cx="3736346" cy="781188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Features And Benefits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C955AFB3-173C-4848-B3E9-1375591B297E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096000" y="2595956"/>
            <a:ext cx="5475600" cy="3232149"/>
          </a:xfrm>
        </p:spPr>
        <p:txBody>
          <a:bodyPr>
            <a:normAutofit fontScale="92500" lnSpcReduction="10000"/>
          </a:bodyPr>
          <a:lstStyle/>
          <a:p>
            <a:pPr>
              <a:buClr>
                <a:schemeClr val="accent2"/>
              </a:buClr>
            </a:pPr>
            <a:r>
              <a:rPr lang="en-US" b="1" dirty="0">
                <a:solidFill>
                  <a:srgbClr val="BFBFBF"/>
                </a:solidFill>
              </a:rPr>
              <a:t>Analytic Services</a:t>
            </a:r>
            <a:endParaRPr lang="en-US" b="1" dirty="0"/>
          </a:p>
          <a:p>
            <a:pPr lvl="1">
              <a:buClr>
                <a:schemeClr val="accent2"/>
              </a:buClr>
            </a:pPr>
            <a:r>
              <a:rPr lang="en-US" dirty="0"/>
              <a:t>We remain updated on the last FAR Regulations, Contracts and Bids for every sector of business.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In house data preparation and analytics process that will do the heavy lifting for your business. 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Our model can dually be used to bid for contracts in most states 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You own your data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Use scalable low-cost applications to increase ROI </a:t>
            </a: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C7C65DDB-24F2-44CF-AE02-F3A6C8B1858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699F50C-BE38-4BD0-BA84-9B090E1F2B9B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0" name="Picture 9" descr="A picture containing text&#10;&#10;Description automatically generated">
            <a:extLst>
              <a:ext uri="{FF2B5EF4-FFF2-40B4-BE49-F238E27FC236}">
                <a16:creationId xmlns:a16="http://schemas.microsoft.com/office/drawing/2014/main" id="{7B24C713-FD56-4146-8086-0BD66D81AA78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/>
          </a:blip>
          <a:stretch>
            <a:fillRect/>
          </a:stretch>
        </p:blipFill>
        <p:spPr>
          <a:xfrm>
            <a:off x="520493" y="452878"/>
            <a:ext cx="857370" cy="924054"/>
          </a:xfrm>
          <a:prstGeom prst="rect">
            <a:avLst/>
          </a:prstGeom>
          <a:solidFill>
            <a:schemeClr val="accent1"/>
          </a:solidFill>
        </p:spPr>
      </p:pic>
    </p:spTree>
    <p:extLst>
      <p:ext uri="{BB962C8B-B14F-4D97-AF65-F5344CB8AC3E}">
        <p14:creationId xmlns:p14="http://schemas.microsoft.com/office/powerpoint/2010/main" val="3891516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Marketing Analysis Dataset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BFBFBF"/>
                </a:solidFill>
              </a:rPr>
              <a:t>Key Factors</a:t>
            </a:r>
          </a:p>
        </p:txBody>
      </p:sp>
      <p:graphicFrame>
        <p:nvGraphicFramePr>
          <p:cNvPr id="19" name="Table Placeholder 10">
            <a:extLst>
              <a:ext uri="{FF2B5EF4-FFF2-40B4-BE49-F238E27FC236}">
                <a16:creationId xmlns:a16="http://schemas.microsoft.com/office/drawing/2014/main" id="{FA7555E4-6CFC-1C44-B97A-BFEC35A63419}"/>
              </a:ext>
            </a:extLst>
          </p:cNvPr>
          <p:cNvGraphicFramePr>
            <a:graphicFrameLocks noGrp="1"/>
          </p:cNvGraphicFramePr>
          <p:nvPr>
            <p:ph type="tbl" sz="quarter" idx="12"/>
            <p:extLst>
              <p:ext uri="{D42A27DB-BD31-4B8C-83A1-F6EECF244321}">
                <p14:modId xmlns:p14="http://schemas.microsoft.com/office/powerpoint/2010/main" val="3943180020"/>
              </p:ext>
            </p:extLst>
          </p:nvPr>
        </p:nvGraphicFramePr>
        <p:xfrm>
          <a:off x="1428880" y="1998475"/>
          <a:ext cx="6512816" cy="443915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628204">
                  <a:extLst>
                    <a:ext uri="{9D8B030D-6E8A-4147-A177-3AD203B41FA5}">
                      <a16:colId xmlns:a16="http://schemas.microsoft.com/office/drawing/2014/main" val="4235906612"/>
                    </a:ext>
                  </a:extLst>
                </a:gridCol>
                <a:gridCol w="1628204">
                  <a:extLst>
                    <a:ext uri="{9D8B030D-6E8A-4147-A177-3AD203B41FA5}">
                      <a16:colId xmlns:a16="http://schemas.microsoft.com/office/drawing/2014/main" val="284311610"/>
                    </a:ext>
                  </a:extLst>
                </a:gridCol>
                <a:gridCol w="1628204">
                  <a:extLst>
                    <a:ext uri="{9D8B030D-6E8A-4147-A177-3AD203B41FA5}">
                      <a16:colId xmlns:a16="http://schemas.microsoft.com/office/drawing/2014/main" val="1235871454"/>
                    </a:ext>
                  </a:extLst>
                </a:gridCol>
                <a:gridCol w="1628204">
                  <a:extLst>
                    <a:ext uri="{9D8B030D-6E8A-4147-A177-3AD203B41FA5}">
                      <a16:colId xmlns:a16="http://schemas.microsoft.com/office/drawing/2014/main" val="480876849"/>
                    </a:ext>
                  </a:extLst>
                </a:gridCol>
              </a:tblGrid>
              <a:tr h="698309">
                <a:tc>
                  <a:txBody>
                    <a:bodyPr/>
                    <a:lstStyle/>
                    <a:p>
                      <a:pPr algn="ctr"/>
                      <a:r>
                        <a:rPr lang="en-IN" sz="1600" b="1" u="none" strike="noStrike" kern="1200" dirty="0">
                          <a:solidFill>
                            <a:srgbClr val="3F3F3F"/>
                          </a:solidFill>
                          <a:effectLst/>
                        </a:rPr>
                        <a:t>Geographical </a:t>
                      </a:r>
                      <a:endParaRPr lang="en-IN" sz="1600" dirty="0">
                        <a:solidFill>
                          <a:srgbClr val="3F3F3F"/>
                        </a:solidFill>
                      </a:endParaRPr>
                    </a:p>
                  </a:txBody>
                  <a:tcPr marL="94257" marR="94257"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IN" sz="1600" b="1" u="none" strike="noStrike" kern="1200" dirty="0">
                          <a:solidFill>
                            <a:srgbClr val="3F3F3F"/>
                          </a:solidFill>
                          <a:effectLst/>
                        </a:rPr>
                        <a:t>Contract Negotiations</a:t>
                      </a:r>
                    </a:p>
                  </a:txBody>
                  <a:tcPr marL="94257" marR="94257" anchor="ctr"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IN" sz="1600" b="1" u="none" strike="noStrike" kern="1200" dirty="0">
                          <a:solidFill>
                            <a:srgbClr val="3F3F3F"/>
                          </a:solidFill>
                          <a:effectLst/>
                        </a:rPr>
                        <a:t>COLUMN HEADING</a:t>
                      </a:r>
                      <a:r>
                        <a:rPr lang="en-IN" sz="1600" b="0" u="none" strike="noStrike" kern="1200" dirty="0">
                          <a:solidFill>
                            <a:srgbClr val="3F3F3F"/>
                          </a:solidFill>
                          <a:effectLst/>
                        </a:rPr>
                        <a:t> </a:t>
                      </a:r>
                      <a:endParaRPr lang="en-IN" sz="1600" dirty="0">
                        <a:solidFill>
                          <a:srgbClr val="3F3F3F"/>
                        </a:solidFill>
                      </a:endParaRPr>
                    </a:p>
                  </a:txBody>
                  <a:tcPr marL="94257" marR="942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u="none" strike="noStrike" kern="1200" dirty="0">
                          <a:solidFill>
                            <a:srgbClr val="3F3F3F"/>
                          </a:solidFill>
                          <a:effectLst/>
                        </a:rPr>
                        <a:t>Product/Service</a:t>
                      </a:r>
                    </a:p>
                  </a:txBody>
                  <a:tcPr marL="94257" marR="94257" anchor="ctr"/>
                </a:tc>
                <a:extLst>
                  <a:ext uri="{0D108BD9-81ED-4DB2-BD59-A6C34878D82A}">
                    <a16:rowId xmlns:a16="http://schemas.microsoft.com/office/drawing/2014/main" val="2215579220"/>
                  </a:ext>
                </a:extLst>
              </a:tr>
              <a:tr h="698309">
                <a:tc>
                  <a:txBody>
                    <a:bodyPr/>
                    <a:lstStyle/>
                    <a:p>
                      <a:pPr algn="ctr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Disasters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0" marR="94257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Price Competition</a:t>
                      </a:r>
                    </a:p>
                  </a:txBody>
                  <a:tcPr marL="94257" marR="94257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Cost Analysis</a:t>
                      </a:r>
                    </a:p>
                  </a:txBody>
                  <a:tcPr marL="94257" marR="942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</a:rPr>
                        <a:t>Solicitations</a:t>
                      </a:r>
                    </a:p>
                  </a:txBody>
                  <a:tcPr marL="182880" marR="94257" anchor="ctr"/>
                </a:tc>
                <a:extLst>
                  <a:ext uri="{0D108BD9-81ED-4DB2-BD59-A6C34878D82A}">
                    <a16:rowId xmlns:a16="http://schemas.microsoft.com/office/drawing/2014/main" val="2516563405"/>
                  </a:ext>
                </a:extLst>
              </a:tr>
              <a:tr h="698309">
                <a:tc>
                  <a:txBody>
                    <a:bodyPr/>
                    <a:lstStyle/>
                    <a:p>
                      <a:pPr algn="ctr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Population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0" marR="94257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Price Analysis</a:t>
                      </a:r>
                    </a:p>
                  </a:txBody>
                  <a:tcPr marL="94257" marR="94257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Combination Of Contract Types</a:t>
                      </a:r>
                    </a:p>
                  </a:txBody>
                  <a:tcPr marL="94257" marR="942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Contract Awards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0" marR="94257" anchor="ctr"/>
                </a:tc>
                <a:extLst>
                  <a:ext uri="{0D108BD9-81ED-4DB2-BD59-A6C34878D82A}">
                    <a16:rowId xmlns:a16="http://schemas.microsoft.com/office/drawing/2014/main" val="1907125693"/>
                  </a:ext>
                </a:extLst>
              </a:tr>
              <a:tr h="698309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</a:rPr>
                        <a:t>Crisis</a:t>
                      </a:r>
                    </a:p>
                  </a:txBody>
                  <a:tcPr marL="182880" marR="94257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Requirement Type &amp; Complexity</a:t>
                      </a:r>
                    </a:p>
                  </a:txBody>
                  <a:tcPr marL="94257" marR="94257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Urgency</a:t>
                      </a:r>
                    </a:p>
                  </a:txBody>
                  <a:tcPr marL="94257" marR="94257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Competitors Demographics</a:t>
                      </a:r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0" marR="94257" anchor="ctr"/>
                </a:tc>
                <a:extLst>
                  <a:ext uri="{0D108BD9-81ED-4DB2-BD59-A6C34878D82A}">
                    <a16:rowId xmlns:a16="http://schemas.microsoft.com/office/drawing/2014/main" val="913152447"/>
                  </a:ext>
                </a:extLst>
              </a:tr>
              <a:tr h="698309">
                <a:tc>
                  <a:txBody>
                    <a:bodyPr/>
                    <a:lstStyle/>
                    <a:p>
                      <a:pPr algn="ctr"/>
                      <a:r>
                        <a:rPr lang="en-IN" sz="1600" i="1" dirty="0">
                          <a:solidFill>
                            <a:schemeClr val="tx1"/>
                          </a:solidFill>
                          <a:highlight>
                            <a:srgbClr val="FFFF00"/>
                          </a:highlight>
                        </a:rPr>
                        <a:t>Epidemic/ Pandemics</a:t>
                      </a:r>
                    </a:p>
                  </a:txBody>
                  <a:tcPr marL="182880" marR="94257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Extent and Nature of Subcontracting</a:t>
                      </a:r>
                    </a:p>
                  </a:txBody>
                  <a:tcPr marL="94257" marR="94257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Concurrency</a:t>
                      </a:r>
                    </a:p>
                  </a:txBody>
                  <a:tcPr marL="94257" marR="94257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Business Structure/Type</a:t>
                      </a:r>
                    </a:p>
                  </a:txBody>
                  <a:tcPr marL="94257" marR="94257" anchor="ctr"/>
                </a:tc>
                <a:extLst>
                  <a:ext uri="{0D108BD9-81ED-4DB2-BD59-A6C34878D82A}">
                    <a16:rowId xmlns:a16="http://schemas.microsoft.com/office/drawing/2014/main" val="2955032543"/>
                  </a:ext>
                </a:extLst>
              </a:tr>
              <a:tr h="698309">
                <a:tc>
                  <a:txBody>
                    <a:bodyPr/>
                    <a:lstStyle/>
                    <a:p>
                      <a:pPr algn="ctr"/>
                      <a:endParaRPr lang="en-IN" sz="1600" dirty="0">
                        <a:solidFill>
                          <a:schemeClr val="tx1"/>
                        </a:solidFill>
                      </a:endParaRPr>
                    </a:p>
                  </a:txBody>
                  <a:tcPr marL="182880" marR="94257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Performance Period</a:t>
                      </a:r>
                    </a:p>
                  </a:txBody>
                  <a:tcPr marL="94257" marR="94257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600" b="1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Acquisition History</a:t>
                      </a:r>
                    </a:p>
                  </a:txBody>
                  <a:tcPr marL="94257" marR="94257" anchor="ctr"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1600" b="1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4257" marR="94257" anchor="ctr"/>
                </a:tc>
                <a:extLst>
                  <a:ext uri="{0D108BD9-81ED-4DB2-BD59-A6C34878D82A}">
                    <a16:rowId xmlns:a16="http://schemas.microsoft.com/office/drawing/2014/main" val="268488127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7076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Data Capture Part 1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BFBFBF"/>
                </a:solidFill>
                <a:hlinkClick r:id="rId2"/>
              </a:rPr>
              <a:t>Scrape Part 1 of 3</a:t>
            </a:r>
            <a:r>
              <a:rPr lang="en-US" b="1" dirty="0">
                <a:solidFill>
                  <a:srgbClr val="BFBFBF"/>
                </a:solidFill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7ADE74B-DFA3-4F48-B455-CF709339F6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840" y="1770077"/>
            <a:ext cx="7801762" cy="4586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14463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Data Capture Part 1/3 Code 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BFBFBF"/>
                </a:solidFill>
              </a:rPr>
              <a:t>Scraping Code Part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593CADA-4117-4BB7-BB7C-187589667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490" y="1707501"/>
            <a:ext cx="7858002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3674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Data Capture Results Part 1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BFBFBF"/>
                </a:solidFill>
              </a:rPr>
              <a:t>DataFrame</a:t>
            </a:r>
            <a:endParaRPr lang="en-US" b="1" dirty="0">
              <a:solidFill>
                <a:srgbClr val="BFBFB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7CF19FEC-E628-4B41-89B7-20EA1F812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0468495"/>
              </p:ext>
            </p:extLst>
          </p:nvPr>
        </p:nvGraphicFramePr>
        <p:xfrm>
          <a:off x="518678" y="1902423"/>
          <a:ext cx="8021315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21315">
                  <a:extLst>
                    <a:ext uri="{9D8B030D-6E8A-4147-A177-3AD203B41FA5}">
                      <a16:colId xmlns:a16="http://schemas.microsoft.com/office/drawing/2014/main" val="674052875"/>
                    </a:ext>
                  </a:extLst>
                </a:gridCol>
              </a:tblGrid>
              <a:tr h="7951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n-lt"/>
                          <a:cs typeface="Courier New" panose="02070309020205020404" pitchFamily="49" charset="0"/>
                        </a:rPr>
                        <a:t>Scrape 1</a:t>
                      </a:r>
                    </a:p>
                    <a:p>
                      <a:pPr algn="ctr"/>
                      <a:r>
                        <a:rPr lang="en-US" sz="2400" dirty="0">
                          <a:latin typeface="+mn-lt"/>
                          <a:cs typeface="Courier New" panose="02070309020205020404" pitchFamily="49" charset="0"/>
                        </a:rPr>
                        <a:t>(19 Columns)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231677"/>
                  </a:ext>
                </a:extLst>
              </a:tr>
              <a:tr h="2612653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Primary Key – 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N/A</a:t>
                      </a: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endParaRPr lang="en-US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Columns - 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wardID,AwardType,LegalBusinessName,ContractingAgency,DateSigned,ActionObligation,ReferencedIDV,ContractingOffice,NAICS_Code,PSC_Code,EntityCity,UniqueEntityID_DUNS,EntityState,UniqueEntityID_SAM,Zip,UltimateParentUniqueEntityID_DUNS,UltimateParentLegalBusinessName,UltimateParentUniqueEntityID_SAM,CAGE_Code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400" b="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Sample Data - 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19KE5022P0073( P00001 ) (View),PURCHASE ORDER,MISCELLANEOUS FOREIGN AWARDEES,"STATE, DEPARTMENT OF", "March 05, 2022","-$2,577.12",,AMERICAN EMBASSY NAIROBI,HOTELS (EXCEPT CASINO HOTELS) AND MOTELS(    721110),"TRANSPORTATION/TRAVEL/RELOCATION- TRAVEL/LODGING/RECRUITMENT: LODGING, HOTEL/MOTEL(    V231)",WASHINGTON,123456787,DC,LN9PU5M2YZN5,204050001,123456787,MISCELLANEOUS FOREIGN CONTRACTORS,LN9PU5M2YZN5,35KC0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023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4943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Data Capture Part 2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BFBFBF"/>
                </a:solidFill>
                <a:hlinkClick r:id="rId2"/>
              </a:rPr>
              <a:t>Scrape Part 2 of 3</a:t>
            </a:r>
            <a:endParaRPr lang="en-US" b="1" dirty="0">
              <a:solidFill>
                <a:srgbClr val="BFBFB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849A24-2D34-43F4-9E16-6105D796C2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75" y="1719743"/>
            <a:ext cx="9026554" cy="463660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4B2B8B2F-1F1F-4B48-9689-EE2B9A35996F}"/>
                  </a:ext>
                </a:extLst>
              </p14:cNvPr>
              <p14:cNvContentPartPr/>
              <p14:nvPr/>
            </p14:nvContentPartPr>
            <p14:xfrm>
              <a:off x="2969320" y="2306827"/>
              <a:ext cx="1257840" cy="518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4B2B8B2F-1F1F-4B48-9689-EE2B9A35996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15320" y="2198827"/>
                <a:ext cx="136548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5018568-6EB3-4BB3-A6C2-FA39D5AF8135}"/>
                  </a:ext>
                </a:extLst>
              </p14:cNvPr>
              <p14:cNvContentPartPr/>
              <p14:nvPr/>
            </p14:nvContentPartPr>
            <p14:xfrm>
              <a:off x="6568240" y="1793827"/>
              <a:ext cx="404280" cy="33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5018568-6EB3-4BB3-A6C2-FA39D5AF813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514600" y="1686187"/>
                <a:ext cx="51192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3701AB01-ABE3-4915-A192-1FB916724743}"/>
                  </a:ext>
                </a:extLst>
              </p14:cNvPr>
              <p14:cNvContentPartPr/>
              <p14:nvPr/>
            </p14:nvContentPartPr>
            <p14:xfrm>
              <a:off x="5998000" y="3070027"/>
              <a:ext cx="750960" cy="342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3701AB01-ABE3-4915-A192-1FB9167247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44000" y="2962387"/>
                <a:ext cx="858600" cy="249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879050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Data Capture Part 2/3 Code 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18678" y="1356997"/>
            <a:ext cx="7368596" cy="608895"/>
          </a:xfrm>
        </p:spPr>
        <p:txBody>
          <a:bodyPr/>
          <a:lstStyle/>
          <a:p>
            <a:r>
              <a:rPr lang="en-US" b="1" dirty="0">
                <a:solidFill>
                  <a:srgbClr val="BFBFBF"/>
                </a:solidFill>
              </a:rPr>
              <a:t>Scraping Code Part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7534F9-50DF-4E09-B9DC-A0BFD9D3D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482" y="1782146"/>
            <a:ext cx="8714791" cy="4506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4275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Data Capture Results Part 2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BFBFBF"/>
                </a:solidFill>
              </a:rPr>
              <a:t>DataFrame</a:t>
            </a:r>
            <a:endParaRPr lang="en-US" b="1" dirty="0">
              <a:solidFill>
                <a:srgbClr val="BFBFB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11</a:t>
            </a:fld>
            <a:endParaRPr lang="en-US" dirty="0"/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7CF19FEC-E628-4B41-89B7-20EA1F812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2996763"/>
              </p:ext>
            </p:extLst>
          </p:nvPr>
        </p:nvGraphicFramePr>
        <p:xfrm>
          <a:off x="518678" y="1902423"/>
          <a:ext cx="9145440" cy="343561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5440">
                  <a:extLst>
                    <a:ext uri="{9D8B030D-6E8A-4147-A177-3AD203B41FA5}">
                      <a16:colId xmlns:a16="http://schemas.microsoft.com/office/drawing/2014/main" val="674052875"/>
                    </a:ext>
                  </a:extLst>
                </a:gridCol>
              </a:tblGrid>
              <a:tr h="79515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n-lt"/>
                          <a:cs typeface="Courier New" panose="02070309020205020404" pitchFamily="49" charset="0"/>
                        </a:rPr>
                        <a:t>Scrape 2</a:t>
                      </a:r>
                    </a:p>
                    <a:p>
                      <a:pPr algn="ctr"/>
                      <a:r>
                        <a:rPr lang="en-US" sz="2400" dirty="0">
                          <a:latin typeface="+mn-lt"/>
                          <a:cs typeface="Courier New" panose="02070309020205020404" pitchFamily="49" charset="0"/>
                        </a:rPr>
                        <a:t>(2 Columns)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231677"/>
                  </a:ext>
                </a:extLst>
              </a:tr>
              <a:tr h="2612653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Primary Key – N/A</a:t>
                      </a:r>
                      <a:endParaRPr lang="en-US" sz="1400" b="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endParaRPr lang="en-US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Columns -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AwardID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ContractUrl</a:t>
                      </a:r>
                      <a:endParaRPr lang="en-US" sz="1400" b="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400" b="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Sample Data - 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19KE5022P0073,https://www.fpds.gov/ezsearch/jsp/viewLinkController.jsp?agencyID=1900&amp;PIID=19KE5022P0073&amp;modNumber=P00001&amp;transactionNumber=0&amp;idvAgencyID=&amp;idvPIID=&amp;actionSource=searchScreen&amp;actionCode=&amp;documentVersion=1.5&amp;contractType=AWARD&amp;docType=B</a:t>
                      </a:r>
                      <a:endParaRPr lang="en-US" sz="14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endParaRPr lang="en-US" sz="140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023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3054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Data Capture Part 3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BFBFBF"/>
                </a:solidFill>
                <a:hlinkClick r:id="rId2"/>
              </a:rPr>
              <a:t>Scrape Part 3 of 3</a:t>
            </a:r>
            <a:r>
              <a:rPr lang="en-US" b="1" dirty="0">
                <a:solidFill>
                  <a:srgbClr val="BFBFBF"/>
                </a:solidFill>
              </a:rPr>
              <a:t>(Section 1 of 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CE234D-C000-4728-98F5-9720DC8DD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86" y="1887523"/>
            <a:ext cx="8749717" cy="4468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026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Data Capture Part 3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BFBFBF"/>
                </a:solidFill>
                <a:hlinkClick r:id="rId2"/>
              </a:rPr>
              <a:t>Scrape Part 3 of 3</a:t>
            </a:r>
            <a:r>
              <a:rPr lang="en-US" b="1" dirty="0">
                <a:solidFill>
                  <a:srgbClr val="BFBFBF"/>
                </a:solidFill>
              </a:rPr>
              <a:t>(Section 2 of 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930262-BF69-405D-9023-1FD587963C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618" y="1820411"/>
            <a:ext cx="8883942" cy="4535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26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Data Capture Part 3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BFBFBF"/>
                </a:solidFill>
                <a:hlinkClick r:id="rId2"/>
              </a:rPr>
              <a:t>Scrape Part 3 of 3</a:t>
            </a:r>
            <a:r>
              <a:rPr lang="en-US" b="1" dirty="0">
                <a:solidFill>
                  <a:srgbClr val="BFBFBF"/>
                </a:solidFill>
              </a:rPr>
              <a:t>(Section 3 of 3)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8BBDDE-07B3-4F9D-8B7C-2394164B53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784" y="1887523"/>
            <a:ext cx="8699385" cy="446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16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Data Capture Part 3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BFBFBF"/>
                </a:solidFill>
                <a:hlinkClick r:id="rId2"/>
              </a:rPr>
              <a:t>Web Form Scrape</a:t>
            </a:r>
            <a:endParaRPr lang="en-US" b="1" dirty="0">
              <a:solidFill>
                <a:srgbClr val="BFBFB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F10D97-1895-41A4-84B2-760C01583D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677" y="1985827"/>
            <a:ext cx="3204237" cy="42190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B92AAEC-5FDA-4961-90B8-8750B6273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5633" y="1985827"/>
            <a:ext cx="3293706" cy="421903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A23E15-302C-4788-9D1D-7DC312F81E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9340" y="1965892"/>
            <a:ext cx="3293706" cy="423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0114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Data Capture Part 3/3 Code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BFBFBF"/>
                </a:solidFill>
              </a:rPr>
              <a:t>Scraping Code Part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730A08-4107-4D86-9512-B87881B20B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829" y="1791477"/>
            <a:ext cx="9162662" cy="4564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6990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Data Capture Results Part 3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 err="1">
                <a:solidFill>
                  <a:srgbClr val="BFBFBF"/>
                </a:solidFill>
              </a:rPr>
              <a:t>DataFrame</a:t>
            </a:r>
            <a:r>
              <a:rPr lang="en-US" b="1" dirty="0">
                <a:solidFill>
                  <a:srgbClr val="BFBFBF"/>
                </a:solidFill>
              </a:rPr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2" name="Table 4">
            <a:extLst>
              <a:ext uri="{FF2B5EF4-FFF2-40B4-BE49-F238E27FC236}">
                <a16:creationId xmlns:a16="http://schemas.microsoft.com/office/drawing/2014/main" id="{7CF19FEC-E628-4B41-89B7-20EA1F812A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016363"/>
              </p:ext>
            </p:extLst>
          </p:nvPr>
        </p:nvGraphicFramePr>
        <p:xfrm>
          <a:off x="518677" y="1785069"/>
          <a:ext cx="9371943" cy="454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71943">
                  <a:extLst>
                    <a:ext uri="{9D8B030D-6E8A-4147-A177-3AD203B41FA5}">
                      <a16:colId xmlns:a16="http://schemas.microsoft.com/office/drawing/2014/main" val="3613816983"/>
                    </a:ext>
                  </a:extLst>
                </a:gridCol>
              </a:tblGrid>
              <a:tr h="558835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+mn-lt"/>
                          <a:cs typeface="Arial" panose="020B0604020202020204" pitchFamily="34" charset="0"/>
                        </a:rPr>
                        <a:t>Scrape 3</a:t>
                      </a:r>
                    </a:p>
                    <a:p>
                      <a:pPr algn="ctr"/>
                      <a:r>
                        <a:rPr lang="en-US" sz="2400" dirty="0">
                          <a:latin typeface="+mn-lt"/>
                          <a:cs typeface="Arial" panose="020B0604020202020204" pitchFamily="34" charset="0"/>
                        </a:rPr>
                        <a:t>(142 Columns)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7231677"/>
                  </a:ext>
                </a:extLst>
              </a:tr>
              <a:tr h="2773380">
                <a:tc>
                  <a:txBody>
                    <a:bodyPr/>
                    <a:lstStyle/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Primary Key –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AwardID</a:t>
                      </a:r>
                      <a:endParaRPr lang="en-US" sz="1400" b="0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endParaRPr lang="en-US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q"/>
                        <a:tabLst/>
                        <a:defRPr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Columns - 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AwardType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 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PreparedDate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 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PreparedUser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 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AwardStatus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LastModifiedDate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 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LastModifiedUser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 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ClosedStatus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 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ClosedStatusDate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 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ClosedBy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 'Filler1', ‘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ApprovedDate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 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ApprovedBy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AwardIDAgency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AwardIDProcurementIdentifier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 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AwardIDModificationNo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TransNo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RefIDVIDAgency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RefIDVProcurementIdentifier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RefIDVModificationNo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 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ReasonForModification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SolicitationID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TASAgencyIdentifier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 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TASMainAccount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 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TASSubAccount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', '</a:t>
                      </a:r>
                      <a:r>
                        <a:rPr lang="en-US" sz="1400" b="0" kern="1200" dirty="0" err="1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DateSigned</a:t>
                      </a:r>
                      <a:r>
                        <a:rPr lang="en-US" sz="1400" b="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’…</a:t>
                      </a:r>
                    </a:p>
                    <a:p>
                      <a:pPr marL="0" indent="0">
                        <a:buFont typeface="Wingdings" panose="05000000000000000000" pitchFamily="2" charset="2"/>
                        <a:buNone/>
                      </a:pPr>
                      <a:endParaRPr lang="en-US" sz="1400" b="1" kern="1200" dirty="0">
                        <a:solidFill>
                          <a:schemeClr val="dk1"/>
                        </a:solidFill>
                        <a:latin typeface="Courier New" panose="02070309020205020404" pitchFamily="49" charset="0"/>
                        <a:ea typeface="+mn-ea"/>
                        <a:cs typeface="Courier New" panose="02070309020205020404" pitchFamily="49" charset="0"/>
                      </a:endParaRPr>
                    </a:p>
                    <a:p>
                      <a:pPr marL="171450" indent="-171450">
                        <a:buFont typeface="Wingdings" panose="05000000000000000000" pitchFamily="2" charset="2"/>
                        <a:buChar char="q"/>
                      </a:pPr>
                      <a:r>
                        <a:rPr lang="en-US" sz="1400" b="1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Row Sample -</a:t>
                      </a:r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Courier New" panose="02070309020205020404" pitchFamily="49" charset="0"/>
                          <a:ea typeface="+mn-ea"/>
                          <a:cs typeface="Courier New" panose="02070309020205020404" pitchFamily="49" charset="0"/>
                        </a:rPr>
                        <a:t>Delivery/Task Order,05/16/2020 16:05:36,MARCIA.LEE.HE1254@HQ.DODEA.EDU,Final,05/16/2020 16:05:46,MARCIA.LEE.HE1254@HQ.DODEA.EDU,Yes,04/14/2020 20:21:21,FPDS_CLOSEOUT,,05/16/2020 16:05:46,MARCIA.LEE.HE1254@HQ.DODEA.EDU,9700,0061,1,0,9700,HE125415D0005,0,Funding Only Action,,97,0100,,05162020,09142016,11132016,11132016,,,-$0.24,"$19,999.76",,-$0.24,"$19,999.76",,-$0.24,"$19,999.76“,…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7023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89227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BFBFBF"/>
                </a:solidFill>
              </a:rPr>
              <a:t>Data Wrangling Automation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BFBFBF"/>
                </a:solidFill>
              </a:rPr>
              <a:t>SQL Server Data Tool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7CBCC2-28FE-43A1-AA93-16A0C4A54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30" y="1782147"/>
            <a:ext cx="7772144" cy="457420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761C21-374F-47D6-8056-A433ADE863DA}"/>
              </a:ext>
            </a:extLst>
          </p:cNvPr>
          <p:cNvSpPr txBox="1"/>
          <p:nvPr/>
        </p:nvSpPr>
        <p:spPr>
          <a:xfrm>
            <a:off x="8851900" y="3429000"/>
            <a:ext cx="2028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After 11 Passes thru Beautiful Soup</a:t>
            </a:r>
          </a:p>
        </p:txBody>
      </p:sp>
    </p:spTree>
    <p:extLst>
      <p:ext uri="{BB962C8B-B14F-4D97-AF65-F5344CB8AC3E}">
        <p14:creationId xmlns:p14="http://schemas.microsoft.com/office/powerpoint/2010/main" val="14417069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BFBFBF"/>
                </a:solidFill>
              </a:rPr>
              <a:t>Reporting </a:t>
            </a:r>
            <a:br>
              <a:rPr lang="en-US" dirty="0">
                <a:solidFill>
                  <a:srgbClr val="BFBFBF"/>
                </a:solidFill>
              </a:rPr>
            </a:br>
            <a:r>
              <a:rPr lang="en-US" dirty="0">
                <a:solidFill>
                  <a:srgbClr val="BFBFBF"/>
                </a:solidFill>
              </a:rPr>
              <a:t>(Transforming Data To Information) 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BFBFBF"/>
                </a:solidFill>
              </a:rPr>
              <a:t>PowerBi Visualizations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FEE8C6-4BC3-4FBE-A9F1-B7C8D7EE14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618" y="1744909"/>
            <a:ext cx="8707773" cy="4611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380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3">
            <a:extLst>
              <a:ext uri="{FF2B5EF4-FFF2-40B4-BE49-F238E27FC236}">
                <a16:creationId xmlns:a16="http://schemas.microsoft.com/office/drawing/2014/main" id="{F64048FA-1C7E-4BEF-8273-A6490A22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BFBFBF"/>
                </a:solidFill>
              </a:rPr>
              <a:t>Summary</a:t>
            </a:r>
            <a:endParaRPr lang="en-US" b="0" dirty="0">
              <a:solidFill>
                <a:srgbClr val="BFBFBF"/>
              </a:solidFill>
            </a:endParaRP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FAA9D8EA-A7CA-4ED0-94D3-29382CDEBB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>
                <a:solidFill>
                  <a:srgbClr val="BFBFBF"/>
                </a:solidFill>
              </a:rPr>
              <a:t>Proof Of Concept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53D90E-F2EA-4BA1-ACBD-9D3D0EB22C8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699F50C-BE38-4BD0-BA84-9B090E1F2B9B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A5F9946F-FB18-4278-AE92-63C6A6F988A9}"/>
              </a:ext>
            </a:extLst>
          </p:cNvPr>
          <p:cNvSpPr txBox="1">
            <a:spLocks/>
          </p:cNvSpPr>
          <p:nvPr/>
        </p:nvSpPr>
        <p:spPr>
          <a:xfrm>
            <a:off x="518678" y="2117784"/>
            <a:ext cx="7778034" cy="323214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2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2E7A40"/>
              </a:buClr>
              <a:buFont typeface="Arial" panose="020B0604020202020204" pitchFamily="34" charset="0"/>
              <a:buChar char="•"/>
              <a:defRPr lang="en-IN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2"/>
              </a:buClr>
            </a:pPr>
            <a:r>
              <a:rPr lang="en-US" b="1" dirty="0">
                <a:solidFill>
                  <a:srgbClr val="BFBFBF"/>
                </a:solidFill>
              </a:rPr>
              <a:t>Proven From This Model</a:t>
            </a:r>
            <a:endParaRPr lang="en-US" b="1" dirty="0"/>
          </a:p>
          <a:p>
            <a:pPr lvl="1">
              <a:buClr>
                <a:schemeClr val="accent2"/>
              </a:buClr>
            </a:pPr>
            <a:r>
              <a:rPr lang="en-US" dirty="0"/>
              <a:t>Obtain detailed data for public website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Manipulate and store data on cloud/local servers.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Automate the ETL/ELT process.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Visualize the data to answer business queries.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Maximize the use of coding (Python Beautiful Soup) to build models for scraping various sites/pages</a:t>
            </a:r>
          </a:p>
          <a:p>
            <a:pPr lvl="1">
              <a:buClr>
                <a:schemeClr val="accent2"/>
              </a:buClr>
            </a:pPr>
            <a:r>
              <a:rPr lang="en-US" dirty="0"/>
              <a:t>Provide analytical data for marketing, pricing strategy,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 lvl="1">
              <a:buClr>
                <a:schemeClr val="accent2"/>
              </a:buClr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1541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Building image">
            <a:extLst>
              <a:ext uri="{FF2B5EF4-FFF2-40B4-BE49-F238E27FC236}">
                <a16:creationId xmlns:a16="http://schemas.microsoft.com/office/drawing/2014/main" id="{257F6BCE-75BB-4ECD-BEA5-21C36A9CC0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55000"/>
                    </a14:imgEffect>
                  </a14:imgLayer>
                </a14:imgProps>
              </a:ext>
            </a:extLst>
          </a:blip>
          <a:srcRect l="20743" r="20743"/>
          <a:stretch>
            <a:fillRect/>
          </a:stretch>
        </p:blipFill>
        <p:spPr/>
      </p:pic>
      <p:grpSp>
        <p:nvGrpSpPr>
          <p:cNvPr id="19" name="Group 18" descr="Company name and logo group of information&#10;">
            <a:extLst>
              <a:ext uri="{FF2B5EF4-FFF2-40B4-BE49-F238E27FC236}">
                <a16:creationId xmlns:a16="http://schemas.microsoft.com/office/drawing/2014/main" id="{5B07AEC6-55AE-4E18-BEEA-A226E87C7897}"/>
              </a:ext>
            </a:extLst>
          </p:cNvPr>
          <p:cNvGrpSpPr/>
          <p:nvPr/>
        </p:nvGrpSpPr>
        <p:grpSpPr>
          <a:xfrm>
            <a:off x="2369976" y="2421032"/>
            <a:ext cx="3125755" cy="1015663"/>
            <a:chOff x="2993173" y="2902286"/>
            <a:chExt cx="3321000" cy="1015663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94DF2E04-7632-4FED-B0BF-8FB243D982A3}"/>
                </a:ext>
              </a:extLst>
            </p:cNvPr>
            <p:cNvSpPr txBox="1"/>
            <p:nvPr/>
          </p:nvSpPr>
          <p:spPr>
            <a:xfrm>
              <a:off x="3238428" y="2902286"/>
              <a:ext cx="184731" cy="101566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sz="6000" b="1" dirty="0">
                <a:solidFill>
                  <a:schemeClr val="bg1"/>
                </a:solidFill>
                <a:latin typeface="Arial Black" panose="020B0A04020102020204" pitchFamily="34" charset="0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C9A1C71-347B-44A9-88B4-692D9731582D}"/>
                </a:ext>
              </a:extLst>
            </p:cNvPr>
            <p:cNvSpPr txBox="1"/>
            <p:nvPr/>
          </p:nvSpPr>
          <p:spPr>
            <a:xfrm>
              <a:off x="2993173" y="3102340"/>
              <a:ext cx="332100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onstantia" panose="02030602050306030303" pitchFamily="18" charset="0"/>
                  <a:cs typeface="Calibri Light" panose="020F0302020204030204" pitchFamily="34" charset="0"/>
                </a:rPr>
                <a:t>Questions?</a:t>
              </a:r>
            </a:p>
          </p:txBody>
        </p:sp>
      </p:grpSp>
      <p:sp>
        <p:nvSpPr>
          <p:cNvPr id="14" name="Title 7">
            <a:extLst>
              <a:ext uri="{FF2B5EF4-FFF2-40B4-BE49-F238E27FC236}">
                <a16:creationId xmlns:a16="http://schemas.microsoft.com/office/drawing/2014/main" id="{08A66F73-7D8C-4F4E-B3D3-3F9749FE34AB}"/>
              </a:ext>
            </a:extLst>
          </p:cNvPr>
          <p:cNvSpPr txBox="1">
            <a:spLocks/>
          </p:cNvSpPr>
          <p:nvPr/>
        </p:nvSpPr>
        <p:spPr>
          <a:xfrm>
            <a:off x="6375721" y="1821022"/>
            <a:ext cx="4853573" cy="1616252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IN" sz="4300" b="1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Thank </a:t>
            </a:r>
            <a:r>
              <a:rPr lang="en-US" b="0"/>
              <a:t>You.</a:t>
            </a:r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599885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">
      <a:dk1>
        <a:sysClr val="windowText" lastClr="000000"/>
      </a:dk1>
      <a:lt1>
        <a:sysClr val="window" lastClr="FFFFFF"/>
      </a:lt1>
      <a:dk2>
        <a:srgbClr val="4E3B30"/>
      </a:dk2>
      <a:lt2>
        <a:srgbClr val="3F7819"/>
      </a:lt2>
      <a:accent1>
        <a:srgbClr val="E68F10"/>
      </a:accent1>
      <a:accent2>
        <a:srgbClr val="BFBFBF"/>
      </a:accent2>
      <a:accent3>
        <a:srgbClr val="7F7F7F"/>
      </a:accent3>
      <a:accent4>
        <a:srgbClr val="7F7F7F"/>
      </a:accent4>
      <a:accent5>
        <a:srgbClr val="3F3F3F"/>
      </a:accent5>
      <a:accent6>
        <a:srgbClr val="3A2C23"/>
      </a:accent6>
      <a:hlink>
        <a:srgbClr val="AD1F1F"/>
      </a:hlink>
      <a:folHlink>
        <a:srgbClr val="FFC42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89027928_Hexagon presentation dark_AAS_v4" id="{00715B48-F6B0-4FD0-BA2D-34714F23D55A}" vid="{445656DE-313E-4A78-B834-A775A8573B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C3589D-EF2D-4AF3-8B55-088F4B14D6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940343A-75DB-4E03-95EA-4A75BA0D7FF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B759597-1FA4-4F46-9BA8-01240C56026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Hexagon presentation dark</Template>
  <TotalTime>9234</TotalTime>
  <Words>914</Words>
  <Application>Microsoft Office PowerPoint</Application>
  <PresentationFormat>Widescreen</PresentationFormat>
  <Paragraphs>139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9" baseType="lpstr">
      <vt:lpstr>Arial</vt:lpstr>
      <vt:lpstr>Arial Black</vt:lpstr>
      <vt:lpstr>Calibri</vt:lpstr>
      <vt:lpstr>Constantia</vt:lpstr>
      <vt:lpstr>Courier New</vt:lpstr>
      <vt:lpstr>Times New Roman</vt:lpstr>
      <vt:lpstr>Wingdings</vt:lpstr>
      <vt:lpstr>Office Theme</vt:lpstr>
      <vt:lpstr>Federal Procurement Data Systems (FPDS)</vt:lpstr>
      <vt:lpstr>Use Case - Summary</vt:lpstr>
      <vt:lpstr>Drivers For Improvement</vt:lpstr>
      <vt:lpstr>FFBS Solution</vt:lpstr>
      <vt:lpstr>Marketing Analysis Dataset</vt:lpstr>
      <vt:lpstr>Data Capture Part 1</vt:lpstr>
      <vt:lpstr>Data Capture Part 1/3 Code </vt:lpstr>
      <vt:lpstr>Data Capture Results Part 1</vt:lpstr>
      <vt:lpstr>Data Capture Part 2</vt:lpstr>
      <vt:lpstr>Data Capture Part 2/3 Code </vt:lpstr>
      <vt:lpstr>Data Capture Results Part 2</vt:lpstr>
      <vt:lpstr>Data Capture Part 3</vt:lpstr>
      <vt:lpstr>Data Capture Part 3</vt:lpstr>
      <vt:lpstr>Data Capture Part 3</vt:lpstr>
      <vt:lpstr>Data Capture Part 3</vt:lpstr>
      <vt:lpstr>Data Capture Part 3/3 Code</vt:lpstr>
      <vt:lpstr>Data Capture Results Part 3</vt:lpstr>
      <vt:lpstr>Data Wrangling Automation</vt:lpstr>
      <vt:lpstr>Reporting  (Transforming Data To Information) 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Federal Procurement Data Systems (FPDS)</dc:title>
  <dc:creator>David Clerk</dc:creator>
  <cp:lastModifiedBy>David Clerk</cp:lastModifiedBy>
  <cp:revision>20</cp:revision>
  <dcterms:created xsi:type="dcterms:W3CDTF">2022-03-07T19:15:19Z</dcterms:created>
  <dcterms:modified xsi:type="dcterms:W3CDTF">2025-09-29T19:18:59Z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