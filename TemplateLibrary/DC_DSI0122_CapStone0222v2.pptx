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79" r:id="rId5"/>
    <p:sldId id="258" r:id="rId6"/>
    <p:sldId id="257" r:id="rId7"/>
    <p:sldId id="263" r:id="rId8"/>
    <p:sldId id="266" r:id="rId9"/>
    <p:sldId id="265" r:id="rId10"/>
    <p:sldId id="264" r:id="rId11"/>
    <p:sldId id="290" r:id="rId12"/>
    <p:sldId id="289" r:id="rId13"/>
    <p:sldId id="268" r:id="rId14"/>
    <p:sldId id="285" r:id="rId15"/>
    <p:sldId id="288" r:id="rId16"/>
    <p:sldId id="273" r:id="rId17"/>
    <p:sldId id="270" r:id="rId18"/>
    <p:sldId id="284" r:id="rId19"/>
    <p:sldId id="286" r:id="rId20"/>
    <p:sldId id="272" r:id="rId21"/>
    <p:sldId id="276" r:id="rId22"/>
    <p:sldId id="274" r:id="rId23"/>
    <p:sldId id="275" r:id="rId24"/>
    <p:sldId id="283" r:id="rId25"/>
    <p:sldId id="282" r:id="rId26"/>
    <p:sldId id="280" r:id="rId27"/>
    <p:sldId id="271" r:id="rId28"/>
    <p:sldId id="281" r:id="rId29"/>
    <p:sldId id="278" r:id="rId30"/>
    <p:sldId id="269"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B0091C-F2EC-41A7-A48A-023E5824AF82}" v="2" dt="2022-10-10T23:52:14.5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890"/>
  </p:normalViewPr>
  <p:slideViewPr>
    <p:cSldViewPr snapToGrid="0" snapToObjects="1">
      <p:cViewPr varScale="1">
        <p:scale>
          <a:sx n="99" d="100"/>
          <a:sy n="99" d="100"/>
        </p:scale>
        <p:origin x="96" y="3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9/29/2025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5.xml"/><Relationship Id="rId7" Type="http://schemas.openxmlformats.org/officeDocument/2006/relationships/slide" Target="slide27.xml"/><Relationship Id="rId2" Type="http://schemas.openxmlformats.org/officeDocument/2006/relationships/slide" Target="slide3.xml"/><Relationship Id="rId1" Type="http://schemas.openxmlformats.org/officeDocument/2006/relationships/slideLayout" Target="../slideLayouts/slideLayout4.xml"/><Relationship Id="rId6" Type="http://schemas.openxmlformats.org/officeDocument/2006/relationships/slide" Target="slide10.xml"/><Relationship Id="rId11" Type="http://schemas.openxmlformats.org/officeDocument/2006/relationships/image" Target="../media/image5.svg"/><Relationship Id="rId5" Type="http://schemas.openxmlformats.org/officeDocument/2006/relationships/slide" Target="slide9.xml"/><Relationship Id="rId10" Type="http://schemas.openxmlformats.org/officeDocument/2006/relationships/image" Target="../media/image4.png"/><Relationship Id="rId4" Type="http://schemas.openxmlformats.org/officeDocument/2006/relationships/slide" Target="slide4.xml"/><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agilemanifesto.org/" TargetMode="Externa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s://divergenceone-my.sharepoint.com/:x:/g/personal/david_clerk_divergence_one/Efj_cRA1VaNIstyM2gyEw2sB63ulyGExFitgTOto9CvpTw?e=bd6m5U" TargetMode="Externa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s://divergenceone-my.sharepoint.com/:x:/g/personal/david_clerk_divergence_one/Efj_cRA1VaNIstyM2gyEw2sB63ulyGExFitgTOto9CvpTw?e=bd6m5U" TargetMode="Externa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portal.azure.com/#home" TargetMode="External"/><Relationship Id="rId7" Type="http://schemas.openxmlformats.org/officeDocument/2006/relationships/image" Target="../media/image3.sv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5.sv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hyperlink" Target="https://adf.azure.com/en-us/management/datalinkedservices?factory=%2Fsubscriptions%2F418417cc-347b-4a74-ad06-d32694248552%2FresourceGroups%2FDC_West%2Fproviders%2FMicrosoft.DataFactory%2Ffactories%2FdfAzureDataVerse" TargetMode="Externa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svg"/><Relationship Id="rId7"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us.flow.microsoft.com/manage/environments/993527cf-3eb5-488b-a93a-c776d4ebe6ba/flows" TargetMode="External"/><Relationship Id="rId7" Type="http://schemas.openxmlformats.org/officeDocument/2006/relationships/image" Target="../media/image3.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svg"/><Relationship Id="rId10"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s://csitipa.powerappsportals.com/" TargetMode="Externa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 Id="rId9" Type="http://schemas.openxmlformats.org/officeDocument/2006/relationships/image" Target="../media/image18.png"/></Relationships>
</file>

<file path=ppt/slides/_rels/slide19.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csitipa.powerappsportals.com/new-page/OTRReport/" TargetMode="External"/><Relationship Id="rId7" Type="http://schemas.openxmlformats.org/officeDocument/2006/relationships/image" Target="../media/image3.sv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5.svg"/></Relationships>
</file>

<file path=ppt/slides/_rels/slide2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s://csitipa.powerappsportals.com/new-page/OTRReport/" TargetMode="Externa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 Id="rId9" Type="http://schemas.openxmlformats.org/officeDocument/2006/relationships/image" Target="../media/image21.png"/></Relationships>
</file>

<file path=ppt/slides/_rels/slide2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s://csitipa.powerappsportals.com/new-page/OTRReport/" TargetMode="Externa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 Id="rId9"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svg"/><Relationship Id="rId7"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apps.powerapps.com/play/2fba360a-3081-412c-bd55-0cc4738ba26e?tenantId=674d3e6c-45f7-42e9-938c-fcd01e3ff57c&amp;source=portal&amp;screenColor=RGBA(0%2C176%2C240%2C1)" TargetMode="External"/><Relationship Id="rId7" Type="http://schemas.openxmlformats.org/officeDocument/2006/relationships/image" Target="../media/image3.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svg"/><Relationship Id="rId10" Type="http://schemas.openxmlformats.org/officeDocument/2006/relationships/image" Target="../media/image23.png"/><Relationship Id="rId4" Type="http://schemas.openxmlformats.org/officeDocument/2006/relationships/image" Target="../media/image7.png"/><Relationship Id="rId9" Type="http://schemas.openxmlformats.org/officeDocument/2006/relationships/image" Target="../media/image5.svg"/></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8.svg"/><Relationship Id="rId7"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svg"/><Relationship Id="rId7"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sv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hyperlink" Target="https://divergenceone-my.sharepoint.com/:w:/g/personal/david_clerk_divergence_one/EbTHd3SQaN9Bjjt48o8gW1MBiVuzFCfeHn4ElyLtkj1xzQ?e=1eLY7f" TargetMode="External"/><Relationship Id="rId2" Type="http://schemas.openxmlformats.org/officeDocument/2006/relationships/image" Target="../media/image27.jpe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7577DEC-D9A5-404D-9789-702F4319B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EEA9366-CEA8-4F23-B065-4337F0D83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904A03D6-39B4-4278-9BE1-A07E024499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BE459AF-3736-4886-82E0-9B5DA427B5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alpha val="8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4B6B88EF-180C-4E39-8A3F-A52E87110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52DFAACF-64D0-4621-8FF4-E2F03C3E8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36611FF0-65B3-49DB-97C6-1B72AAD0FB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0F7407FE-86B1-4890-9D80-9406FBF29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EBD42D5B-8F87-45B3-98B3-C66944F92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5E04699-59E1-4468-9E7C-83070EEB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F2AE8F13-9A52-4D7F-9637-321EA7CF3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 name="Subtitle 2">
            <a:extLst>
              <a:ext uri="{FF2B5EF4-FFF2-40B4-BE49-F238E27FC236}">
                <a16:creationId xmlns:a16="http://schemas.microsoft.com/office/drawing/2014/main" id="{0391B218-952A-F84F-8A7D-EECF44BFA389}"/>
              </a:ext>
            </a:extLst>
          </p:cNvPr>
          <p:cNvSpPr>
            <a:spLocks noGrp="1"/>
          </p:cNvSpPr>
          <p:nvPr>
            <p:ph type="subTitle" idx="1"/>
          </p:nvPr>
        </p:nvSpPr>
        <p:spPr>
          <a:xfrm>
            <a:off x="1471742" y="5377477"/>
            <a:ext cx="7478646" cy="1096899"/>
          </a:xfrm>
        </p:spPr>
        <p:txBody>
          <a:bodyPr>
            <a:normAutofit lnSpcReduction="10000"/>
          </a:bodyPr>
          <a:lstStyle/>
          <a:p>
            <a:r>
              <a:rPr lang="en-US" dirty="0">
                <a:solidFill>
                  <a:schemeClr val="tx1"/>
                </a:solidFill>
              </a:rPr>
              <a:t>David Clerk</a:t>
            </a:r>
          </a:p>
          <a:p>
            <a:r>
              <a:rPr lang="en-US" dirty="0">
                <a:solidFill>
                  <a:schemeClr val="tx1"/>
                </a:solidFill>
              </a:rPr>
              <a:t>Owner</a:t>
            </a:r>
          </a:p>
          <a:p>
            <a:r>
              <a:rPr lang="en-US" dirty="0">
                <a:solidFill>
                  <a:schemeClr val="tx1"/>
                </a:solidFill>
              </a:rPr>
              <a:t>Revised: 202509 </a:t>
            </a:r>
          </a:p>
        </p:txBody>
      </p:sp>
      <p:sp>
        <p:nvSpPr>
          <p:cNvPr id="2" name="Title 1">
            <a:extLst>
              <a:ext uri="{FF2B5EF4-FFF2-40B4-BE49-F238E27FC236}">
                <a16:creationId xmlns:a16="http://schemas.microsoft.com/office/drawing/2014/main" id="{81BAB8F0-5B82-5F4D-9052-49ED3377F932}"/>
              </a:ext>
            </a:extLst>
          </p:cNvPr>
          <p:cNvSpPr>
            <a:spLocks noGrp="1"/>
          </p:cNvSpPr>
          <p:nvPr>
            <p:ph type="ctrTitle"/>
          </p:nvPr>
        </p:nvSpPr>
        <p:spPr>
          <a:xfrm>
            <a:off x="1507067" y="2404534"/>
            <a:ext cx="7766936" cy="1646302"/>
          </a:xfrm>
        </p:spPr>
        <p:txBody>
          <a:bodyPr>
            <a:normAutofit/>
          </a:bodyPr>
          <a:lstStyle/>
          <a:p>
            <a:r>
              <a:rPr lang="en-US" sz="3600" dirty="0"/>
              <a:t>Fully Functional Business Solutions</a:t>
            </a:r>
          </a:p>
        </p:txBody>
      </p:sp>
      <p:sp>
        <p:nvSpPr>
          <p:cNvPr id="22" name="Title 1">
            <a:extLst>
              <a:ext uri="{FF2B5EF4-FFF2-40B4-BE49-F238E27FC236}">
                <a16:creationId xmlns:a16="http://schemas.microsoft.com/office/drawing/2014/main" id="{D5C0899D-B2E9-420B-B396-CA7845F0E8FC}"/>
              </a:ext>
            </a:extLst>
          </p:cNvPr>
          <p:cNvSpPr txBox="1">
            <a:spLocks/>
          </p:cNvSpPr>
          <p:nvPr/>
        </p:nvSpPr>
        <p:spPr>
          <a:xfrm>
            <a:off x="2500797" y="614267"/>
            <a:ext cx="6773206" cy="1406643"/>
          </a:xfrm>
          <a:prstGeom prst="rect">
            <a:avLst/>
          </a:prstGeom>
        </p:spPr>
        <p:txBody>
          <a:bodyPr vert="horz" lIns="91440" tIns="45720" rIns="91440" bIns="45720" rtlCol="0" anchor="b">
            <a:normAutofit fontScale="77500" lnSpcReduction="20000"/>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000" dirty="0"/>
              <a:t>Power Platform Capability/Skillset Overview</a:t>
            </a:r>
          </a:p>
        </p:txBody>
      </p:sp>
      <p:pic>
        <p:nvPicPr>
          <p:cNvPr id="8" name="Picture 7" descr="A picture containing text&#10;&#10;Description automatically generated">
            <a:extLst>
              <a:ext uri="{FF2B5EF4-FFF2-40B4-BE49-F238E27FC236}">
                <a16:creationId xmlns:a16="http://schemas.microsoft.com/office/drawing/2014/main" id="{D74E3BCC-E375-4E4D-A531-0CDF550F0FD3}"/>
              </a:ext>
            </a:extLst>
          </p:cNvPr>
          <p:cNvPicPr>
            <a:picLocks noChangeAspect="1"/>
          </p:cNvPicPr>
          <p:nvPr/>
        </p:nvPicPr>
        <p:blipFill>
          <a:blip r:embed="rId2"/>
          <a:stretch>
            <a:fillRect/>
          </a:stretch>
        </p:blipFill>
        <p:spPr>
          <a:xfrm>
            <a:off x="1363978" y="383624"/>
            <a:ext cx="983795" cy="944364"/>
          </a:xfrm>
          <a:prstGeom prst="rect">
            <a:avLst/>
          </a:prstGeom>
        </p:spPr>
      </p:pic>
    </p:spTree>
    <p:extLst>
      <p:ext uri="{BB962C8B-B14F-4D97-AF65-F5344CB8AC3E}">
        <p14:creationId xmlns:p14="http://schemas.microsoft.com/office/powerpoint/2010/main" val="254919154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AB83-2C6E-7149-AD1A-53ADFA9A7294}"/>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39DF8BD9-2BE4-7144-9EB7-DEE058589072}"/>
              </a:ext>
            </a:extLst>
          </p:cNvPr>
          <p:cNvSpPr>
            <a:spLocks noGrp="1"/>
          </p:cNvSpPr>
          <p:nvPr>
            <p:ph sz="half" idx="1"/>
          </p:nvPr>
        </p:nvSpPr>
        <p:spPr>
          <a:xfrm>
            <a:off x="1527079" y="1593274"/>
            <a:ext cx="5196994" cy="3985490"/>
          </a:xfrm>
          <a:noFill/>
        </p:spPr>
        <p:txBody>
          <a:bodyPr>
            <a:noAutofit/>
          </a:bodyPr>
          <a:lstStyle/>
          <a:p>
            <a:pPr>
              <a:buFont typeface="Wingdings" panose="05000000000000000000" pitchFamily="2" charset="2"/>
              <a:buChar char="§"/>
            </a:pPr>
            <a:r>
              <a:rPr lang="en-US" sz="2800" dirty="0">
                <a:solidFill>
                  <a:schemeClr val="accent1">
                    <a:lumMod val="50000"/>
                  </a:schemeClr>
                </a:solidFill>
                <a:latin typeface="Arial" panose="020B0604020202020204" pitchFamily="34" charset="0"/>
                <a:cs typeface="Arial" panose="020B0604020202020204" pitchFamily="34" charset="0"/>
                <a:hlinkClick r:id="rId2" action="ppaction://hlinksldjump">
                  <a:extLst>
                    <a:ext uri="{A12FA001-AC4F-418D-AE19-62706E023703}">
                      <ahyp:hlinkClr xmlns:ahyp="http://schemas.microsoft.com/office/drawing/2018/hyperlinkcolor" val="tx"/>
                    </a:ext>
                  </a:extLst>
                </a:hlinkClick>
              </a:rPr>
              <a:t>Introduction</a:t>
            </a:r>
            <a:r>
              <a:rPr lang="en-US" sz="2800" dirty="0">
                <a:solidFill>
                  <a:schemeClr val="accent1">
                    <a:lumMod val="50000"/>
                  </a:schemeClr>
                </a:solidFill>
                <a:latin typeface="Arial" panose="020B0604020202020204" pitchFamily="34" charset="0"/>
                <a:cs typeface="Arial" panose="020B0604020202020204" pitchFamily="34" charset="0"/>
              </a:rPr>
              <a:t> </a:t>
            </a:r>
          </a:p>
          <a:p>
            <a:pPr>
              <a:buFont typeface="Wingdings" panose="05000000000000000000" pitchFamily="2" charset="2"/>
              <a:buChar char="§"/>
            </a:pPr>
            <a:r>
              <a:rPr lang="en-US" sz="2800" dirty="0">
                <a:solidFill>
                  <a:schemeClr val="accent1">
                    <a:lumMod val="50000"/>
                  </a:schemeClr>
                </a:solidFill>
                <a:latin typeface="Arial" panose="020B0604020202020204" pitchFamily="34" charset="0"/>
                <a:cs typeface="Arial" panose="020B0604020202020204" pitchFamily="34" charset="0"/>
                <a:hlinkClick r:id="rId3" action="ppaction://hlinksldjump">
                  <a:extLst>
                    <a:ext uri="{A12FA001-AC4F-418D-AE19-62706E023703}">
                      <ahyp:hlinkClr xmlns:ahyp="http://schemas.microsoft.com/office/drawing/2018/hyperlinkcolor" val="tx"/>
                    </a:ext>
                  </a:extLst>
                </a:hlinkClick>
              </a:rPr>
              <a:t>Execution Strategy</a:t>
            </a:r>
            <a:endParaRPr lang="en-US" sz="2800" dirty="0">
              <a:solidFill>
                <a:schemeClr val="accent1">
                  <a:lumMod val="50000"/>
                </a:schemeClr>
              </a:solidFill>
              <a:latin typeface="Arial" panose="020B0604020202020204" pitchFamily="34" charset="0"/>
              <a:cs typeface="Arial" panose="020B0604020202020204" pitchFamily="34" charset="0"/>
            </a:endParaRPr>
          </a:p>
          <a:p>
            <a:pPr>
              <a:buFont typeface="Wingdings" panose="05000000000000000000" pitchFamily="2" charset="2"/>
              <a:buChar char="§"/>
            </a:pPr>
            <a:r>
              <a:rPr lang="en-US" sz="2800" dirty="0">
                <a:solidFill>
                  <a:schemeClr val="accent1">
                    <a:lumMod val="50000"/>
                  </a:schemeClr>
                </a:solidFill>
                <a:latin typeface="Arial" panose="020B0604020202020204" pitchFamily="34" charset="0"/>
                <a:cs typeface="Arial" panose="020B0604020202020204" pitchFamily="34" charset="0"/>
              </a:rPr>
              <a:t>- </a:t>
            </a:r>
            <a:r>
              <a:rPr lang="en-US" sz="2800" dirty="0">
                <a:solidFill>
                  <a:schemeClr val="accent1">
                    <a:lumMod val="50000"/>
                  </a:schemeClr>
                </a:solidFill>
                <a:latin typeface="Arial" panose="020B0604020202020204" pitchFamily="34" charset="0"/>
                <a:cs typeface="Arial" panose="020B0604020202020204" pitchFamily="34" charset="0"/>
                <a:hlinkClick r:id="rId4" action="ppaction://hlinksldjump">
                  <a:extLst>
                    <a:ext uri="{A12FA001-AC4F-418D-AE19-62706E023703}">
                      <ahyp:hlinkClr xmlns:ahyp="http://schemas.microsoft.com/office/drawing/2018/hyperlinkcolor" val="tx"/>
                    </a:ext>
                  </a:extLst>
                </a:hlinkClick>
              </a:rPr>
              <a:t>Project Overview</a:t>
            </a:r>
            <a:endParaRPr lang="en-US" sz="2800" dirty="0">
              <a:solidFill>
                <a:schemeClr val="accent1">
                  <a:lumMod val="50000"/>
                </a:schemeClr>
              </a:solidFill>
              <a:latin typeface="Arial" panose="020B0604020202020204" pitchFamily="34" charset="0"/>
              <a:cs typeface="Arial" panose="020B0604020202020204" pitchFamily="34" charset="0"/>
            </a:endParaRPr>
          </a:p>
          <a:p>
            <a:pPr>
              <a:buFont typeface="Wingdings" panose="05000000000000000000" pitchFamily="2" charset="2"/>
              <a:buChar char="§"/>
            </a:pPr>
            <a:r>
              <a:rPr lang="en-US" sz="2800" dirty="0">
                <a:solidFill>
                  <a:schemeClr val="accent1">
                    <a:lumMod val="50000"/>
                  </a:schemeClr>
                </a:solidFill>
                <a:latin typeface="Arial" panose="020B0604020202020204" pitchFamily="34" charset="0"/>
                <a:cs typeface="Arial" panose="020B0604020202020204" pitchFamily="34" charset="0"/>
              </a:rPr>
              <a:t>- </a:t>
            </a:r>
            <a:r>
              <a:rPr lang="en-US" sz="2800" dirty="0">
                <a:solidFill>
                  <a:schemeClr val="accent1">
                    <a:lumMod val="50000"/>
                  </a:schemeClr>
                </a:solidFill>
                <a:latin typeface="Arial" panose="020B0604020202020204" pitchFamily="34" charset="0"/>
                <a:cs typeface="Arial" panose="020B0604020202020204" pitchFamily="34" charset="0"/>
                <a:hlinkClick r:id="rId5" action="ppaction://hlinksldjump">
                  <a:extLst>
                    <a:ext uri="{A12FA001-AC4F-418D-AE19-62706E023703}">
                      <ahyp:hlinkClr xmlns:ahyp="http://schemas.microsoft.com/office/drawing/2018/hyperlinkcolor" val="tx"/>
                    </a:ext>
                  </a:extLst>
                </a:hlinkClick>
              </a:rPr>
              <a:t>Requirements Analysis</a:t>
            </a:r>
            <a:endParaRPr lang="en-US" sz="2800" dirty="0">
              <a:solidFill>
                <a:schemeClr val="accent1">
                  <a:lumMod val="50000"/>
                </a:schemeClr>
              </a:solidFill>
              <a:latin typeface="Arial" panose="020B0604020202020204" pitchFamily="34" charset="0"/>
              <a:cs typeface="Arial" panose="020B0604020202020204" pitchFamily="34" charset="0"/>
            </a:endParaRPr>
          </a:p>
          <a:p>
            <a:pPr>
              <a:buFont typeface="Wingdings" panose="05000000000000000000" pitchFamily="2" charset="2"/>
              <a:buChar char="§"/>
            </a:pPr>
            <a:r>
              <a:rPr lang="en-US" sz="2800" dirty="0">
                <a:solidFill>
                  <a:schemeClr val="accent1">
                    <a:lumMod val="50000"/>
                  </a:schemeClr>
                </a:solidFill>
                <a:latin typeface="Arial" panose="020B0604020202020204" pitchFamily="34" charset="0"/>
                <a:cs typeface="Arial" panose="020B0604020202020204" pitchFamily="34" charset="0"/>
              </a:rPr>
              <a:t>- </a:t>
            </a:r>
            <a:r>
              <a:rPr lang="en-US" sz="2800" dirty="0">
                <a:solidFill>
                  <a:schemeClr val="accent1">
                    <a:lumMod val="50000"/>
                  </a:schemeClr>
                </a:solidFill>
                <a:latin typeface="Arial" panose="020B0604020202020204" pitchFamily="34" charset="0"/>
                <a:cs typeface="Arial" panose="020B0604020202020204" pitchFamily="34" charset="0"/>
                <a:hlinkClick r:id="rId6" action="ppaction://hlinksldjump">
                  <a:extLst>
                    <a:ext uri="{A12FA001-AC4F-418D-AE19-62706E023703}">
                      <ahyp:hlinkClr xmlns:ahyp="http://schemas.microsoft.com/office/drawing/2018/hyperlinkcolor" val="tx"/>
                    </a:ext>
                  </a:extLst>
                </a:hlinkClick>
              </a:rPr>
              <a:t>Project Deliverables</a:t>
            </a:r>
            <a:endParaRPr lang="en-US" sz="2800" dirty="0">
              <a:solidFill>
                <a:schemeClr val="accent1">
                  <a:lumMod val="50000"/>
                </a:schemeClr>
              </a:solidFill>
              <a:latin typeface="Arial" panose="020B0604020202020204" pitchFamily="34" charset="0"/>
              <a:cs typeface="Arial" panose="020B0604020202020204" pitchFamily="34" charset="0"/>
            </a:endParaRPr>
          </a:p>
          <a:p>
            <a:pPr>
              <a:buFont typeface="Wingdings" panose="05000000000000000000" pitchFamily="2" charset="2"/>
              <a:buChar char="§"/>
            </a:pPr>
            <a:r>
              <a:rPr lang="en-US" sz="2800" dirty="0">
                <a:solidFill>
                  <a:schemeClr val="accent1">
                    <a:lumMod val="50000"/>
                  </a:schemeClr>
                </a:solidFill>
                <a:latin typeface="Arial" panose="020B0604020202020204" pitchFamily="34" charset="0"/>
                <a:cs typeface="Arial" panose="020B0604020202020204" pitchFamily="34" charset="0"/>
              </a:rPr>
              <a:t>- </a:t>
            </a:r>
            <a:r>
              <a:rPr lang="en-US" sz="2800" u="sng" dirty="0">
                <a:solidFill>
                  <a:schemeClr val="accent1">
                    <a:lumMod val="50000"/>
                  </a:schemeClr>
                </a:solidFill>
                <a:latin typeface="Arial" panose="020B0604020202020204" pitchFamily="34" charset="0"/>
                <a:cs typeface="Arial" panose="020B0604020202020204" pitchFamily="34" charset="0"/>
              </a:rPr>
              <a:t>Models</a:t>
            </a:r>
          </a:p>
          <a:p>
            <a:pPr>
              <a:buFont typeface="Wingdings" panose="05000000000000000000" pitchFamily="2" charset="2"/>
              <a:buChar char="§"/>
            </a:pPr>
            <a:r>
              <a:rPr lang="en-US" sz="2800" dirty="0">
                <a:solidFill>
                  <a:schemeClr val="accent1">
                    <a:lumMod val="50000"/>
                  </a:schemeClr>
                </a:solidFill>
                <a:latin typeface="Arial" panose="020B0604020202020204" pitchFamily="34" charset="0"/>
                <a:cs typeface="Arial" panose="020B0604020202020204" pitchFamily="34" charset="0"/>
              </a:rPr>
              <a:t>- </a:t>
            </a:r>
            <a:r>
              <a:rPr lang="en-US" sz="2800" dirty="0">
                <a:solidFill>
                  <a:schemeClr val="accent1">
                    <a:lumMod val="50000"/>
                  </a:schemeClr>
                </a:solidFill>
                <a:latin typeface="Arial" panose="020B0604020202020204" pitchFamily="34" charset="0"/>
                <a:cs typeface="Arial" panose="020B0604020202020204" pitchFamily="34" charset="0"/>
                <a:hlinkClick r:id="rId7" action="ppaction://hlinksldjump">
                  <a:extLst>
                    <a:ext uri="{A12FA001-AC4F-418D-AE19-62706E023703}">
                      <ahyp:hlinkClr xmlns:ahyp="http://schemas.microsoft.com/office/drawing/2018/hyperlinkcolor" val="tx"/>
                    </a:ext>
                  </a:extLst>
                </a:hlinkClick>
              </a:rPr>
              <a:t>Conclusion</a:t>
            </a:r>
            <a:endParaRPr lang="en-US" sz="2800" dirty="0">
              <a:solidFill>
                <a:schemeClr val="accent1">
                  <a:lumMod val="50000"/>
                </a:schemeClr>
              </a:solidFill>
              <a:latin typeface="Arial" panose="020B0604020202020204" pitchFamily="34" charset="0"/>
              <a:cs typeface="Arial" panose="020B0604020202020204" pitchFamily="34" charset="0"/>
            </a:endParaRPr>
          </a:p>
        </p:txBody>
      </p:sp>
      <p:pic>
        <p:nvPicPr>
          <p:cNvPr id="5" name="Graphic 4" descr="Caret Left with solid fill">
            <a:hlinkClick r:id="" action="ppaction://hlinkshowjump?jump=previousslide"/>
            <a:extLst>
              <a:ext uri="{FF2B5EF4-FFF2-40B4-BE49-F238E27FC236}">
                <a16:creationId xmlns:a16="http://schemas.microsoft.com/office/drawing/2014/main" id="{DB9798E6-8872-4DB8-85FC-51912601C76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5943600"/>
            <a:ext cx="914400" cy="914400"/>
          </a:xfrm>
          <a:prstGeom prst="rect">
            <a:avLst/>
          </a:prstGeom>
        </p:spPr>
      </p:pic>
      <p:pic>
        <p:nvPicPr>
          <p:cNvPr id="7" name="Graphic 6" descr="Caret Right with solid fill">
            <a:hlinkClick r:id="" action="ppaction://hlinkshowjump?jump=nextslide"/>
            <a:extLst>
              <a:ext uri="{FF2B5EF4-FFF2-40B4-BE49-F238E27FC236}">
                <a16:creationId xmlns:a16="http://schemas.microsoft.com/office/drawing/2014/main" id="{B56B7C0D-3DC9-441E-A67B-A2B631B5923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810406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p:txBody>
          <a:bodyPr/>
          <a:lstStyle/>
          <a:p>
            <a:r>
              <a:rPr lang="en-US" b="1" dirty="0"/>
              <a:t>Introduction</a:t>
            </a:r>
          </a:p>
        </p:txBody>
      </p:sp>
      <p:sp>
        <p:nvSpPr>
          <p:cNvPr id="7" name="TextBox 6">
            <a:extLst>
              <a:ext uri="{FF2B5EF4-FFF2-40B4-BE49-F238E27FC236}">
                <a16:creationId xmlns:a16="http://schemas.microsoft.com/office/drawing/2014/main" id="{44F4D86C-6A7C-476D-9587-23BBAE9C6222}"/>
              </a:ext>
            </a:extLst>
          </p:cNvPr>
          <p:cNvSpPr txBox="1"/>
          <p:nvPr/>
        </p:nvSpPr>
        <p:spPr>
          <a:xfrm>
            <a:off x="914400" y="1940276"/>
            <a:ext cx="6989686" cy="4185761"/>
          </a:xfrm>
          <a:prstGeom prst="rect">
            <a:avLst/>
          </a:prstGeom>
          <a:noFill/>
        </p:spPr>
        <p:txBody>
          <a:bodyPr wrap="square">
            <a:spAutoFit/>
          </a:bodyPr>
          <a:lstStyle/>
          <a:p>
            <a:pPr marL="0" marR="0">
              <a:spcBef>
                <a:spcPts val="3000"/>
              </a:spcBef>
              <a:spcAft>
                <a:spcPts val="1200"/>
              </a:spcAft>
            </a:pPr>
            <a:r>
              <a:rPr lang="en-US" sz="1600" b="1" dirty="0">
                <a:solidFill>
                  <a:schemeClr val="accent1"/>
                </a:solidFill>
                <a:latin typeface="Arial" panose="020B0604020202020204" pitchFamily="34" charset="0"/>
                <a:ea typeface="+mj-ea"/>
                <a:cs typeface="Arial" panose="020B0604020202020204" pitchFamily="34" charset="0"/>
              </a:rPr>
              <a:t>David Clerk - Fully</a:t>
            </a:r>
            <a:r>
              <a:rPr lang="en-US" sz="1600" b="1" kern="0" cap="all" dirty="0">
                <a:solidFill>
                  <a:srgbClr val="1F4E79"/>
                </a:solidFill>
                <a:effectLst/>
                <a:latin typeface="Arial" panose="020B0604020202020204" pitchFamily="34" charset="0"/>
                <a:cs typeface="Arial" panose="020B0604020202020204" pitchFamily="34" charset="0"/>
              </a:rPr>
              <a:t> </a:t>
            </a:r>
            <a:r>
              <a:rPr lang="en-US" sz="1600" b="1" dirty="0">
                <a:solidFill>
                  <a:schemeClr val="accent1"/>
                </a:solidFill>
                <a:latin typeface="Arial" panose="020B0604020202020204" pitchFamily="34" charset="0"/>
                <a:ea typeface="+mj-ea"/>
                <a:cs typeface="Arial" panose="020B0604020202020204" pitchFamily="34" charset="0"/>
              </a:rPr>
              <a:t>Functional Business Solutions (FullyFBS)</a:t>
            </a:r>
            <a:r>
              <a:rPr lang="en-US" sz="1400" b="1" dirty="0">
                <a:solidFill>
                  <a:schemeClr val="accent1"/>
                </a:solidFill>
                <a:latin typeface="Arial" panose="020B0604020202020204" pitchFamily="34" charset="0"/>
                <a:ea typeface="+mj-ea"/>
                <a:cs typeface="Arial" panose="020B0604020202020204" pitchFamily="34" charset="0"/>
              </a:rPr>
              <a:t> </a:t>
            </a:r>
          </a:p>
          <a:p>
            <a:r>
              <a:rPr lang="en-US" sz="1200" dirty="0">
                <a:solidFill>
                  <a:srgbClr val="404040"/>
                </a:solidFill>
                <a:latin typeface="Arial" panose="020B0604020202020204" pitchFamily="34" charset="0"/>
                <a:cs typeface="Times New Roman" panose="02020603050405020304" pitchFamily="18" charset="0"/>
              </a:rPr>
              <a:t>David Clerk is the founder of Fully Functional Business Solutions (FullyFBS), a start-up business which develops and maintains information technology solutions for complex business problems.  I am a diverse problem solver with extensive training, knowledge and experience in data analytics via a variety of industries. I am highly proficient in the application of statistical techniques, process improvement methodologies, database management, qualitative and quantitative data analytics, visualizations, and reporting. My technical acumen, interactive leadership and proven ability to deliver great solutions provides consistent and reliable positive impacts to businesses and strategic objectives.</a:t>
            </a:r>
          </a:p>
          <a:p>
            <a:pPr marL="0" marR="0">
              <a:spcBef>
                <a:spcPts val="0"/>
              </a:spcBef>
              <a:spcAft>
                <a:spcPts val="0"/>
              </a:spcAft>
            </a:pPr>
            <a:endParaRPr lang="en-US" sz="1200" dirty="0">
              <a:solidFill>
                <a:srgbClr val="404040"/>
              </a:solidFill>
              <a:latin typeface="Arial" panose="020B0604020202020204" pitchFamily="34" charset="0"/>
              <a:cs typeface="Times New Roman" panose="02020603050405020304" pitchFamily="18" charset="0"/>
            </a:endParaRPr>
          </a:p>
          <a:p>
            <a:pPr marL="0" marR="0">
              <a:spcBef>
                <a:spcPts val="0"/>
              </a:spcBef>
              <a:spcAft>
                <a:spcPts val="0"/>
              </a:spcAft>
            </a:pPr>
            <a:endParaRPr lang="en-US" sz="1200" dirty="0">
              <a:solidFill>
                <a:srgbClr val="404040"/>
              </a:solidFill>
              <a:latin typeface="Arial" panose="020B0604020202020204" pitchFamily="34" charset="0"/>
              <a:cs typeface="Times New Roman" panose="02020603050405020304" pitchFamily="18" charset="0"/>
            </a:endParaRPr>
          </a:p>
          <a:p>
            <a:pPr lvl="0" defTabSz="914400" eaLnBrk="0" fontAlgn="base" hangingPunct="0">
              <a:spcBef>
                <a:spcPct val="0"/>
              </a:spcBef>
              <a:spcAft>
                <a:spcPct val="0"/>
              </a:spcAft>
            </a:pPr>
            <a:r>
              <a:rPr lang="en-US" sz="1200" dirty="0">
                <a:solidFill>
                  <a:srgbClr val="404040"/>
                </a:solidFill>
                <a:latin typeface="Arial" panose="020B0604020202020204" pitchFamily="34" charset="0"/>
                <a:cs typeface="Times New Roman" panose="02020603050405020304" pitchFamily="18" charset="0"/>
              </a:rPr>
              <a:t>My approach aims to: </a:t>
            </a:r>
          </a:p>
          <a:p>
            <a:pPr lvl="0" defTabSz="914400" eaLnBrk="0" fontAlgn="base" hangingPunct="0">
              <a:spcBef>
                <a:spcPct val="0"/>
              </a:spcBef>
              <a:spcAft>
                <a:spcPct val="0"/>
              </a:spcAft>
            </a:pPr>
            <a:endParaRPr lang="en-US" sz="1200" dirty="0">
              <a:solidFill>
                <a:srgbClr val="404040"/>
              </a:solidFill>
              <a:latin typeface="Arial" panose="020B0604020202020204" pitchFamily="34" charset="0"/>
              <a:cs typeface="Times New Roman" panose="02020603050405020304" pitchFamily="18" charset="0"/>
            </a:endParaRPr>
          </a:p>
          <a:p>
            <a:pPr lvl="1" defTabSz="914400" eaLnBrk="0" fontAlgn="base" hangingPunct="0">
              <a:spcBef>
                <a:spcPct val="0"/>
              </a:spcBef>
              <a:spcAft>
                <a:spcPct val="0"/>
              </a:spcAft>
              <a:buFontTx/>
              <a:buChar char="•"/>
            </a:pPr>
            <a:r>
              <a:rPr lang="en-US" altLang="en-US" sz="1200" dirty="0">
                <a:solidFill>
                  <a:srgbClr val="404040"/>
                </a:solidFill>
                <a:latin typeface="Arial" panose="020B0604020202020204" pitchFamily="34" charset="0"/>
                <a:cs typeface="Times New Roman" panose="02020603050405020304" pitchFamily="18" charset="0"/>
              </a:rPr>
              <a:t> Employ a strategy that combines traditional planning rigor with Agile principles to adapt to the nature of work: some parts are predictable and require structured execution, while others need iterative, collaborative problem-solving.</a:t>
            </a:r>
          </a:p>
          <a:p>
            <a:pPr lvl="1" defTabSz="914400" eaLnBrk="0" fontAlgn="base" hangingPunct="0">
              <a:spcBef>
                <a:spcPct val="0"/>
              </a:spcBef>
              <a:spcAft>
                <a:spcPct val="0"/>
              </a:spcAft>
              <a:buFontTx/>
              <a:buChar char="•"/>
            </a:pPr>
            <a:endParaRPr lang="en-US" altLang="en-US" sz="1200" dirty="0">
              <a:solidFill>
                <a:srgbClr val="404040"/>
              </a:solidFill>
              <a:latin typeface="Arial" panose="020B0604020202020204" pitchFamily="34" charset="0"/>
              <a:cs typeface="Times New Roman" panose="02020603050405020304" pitchFamily="18" charset="0"/>
            </a:endParaRPr>
          </a:p>
          <a:p>
            <a:pPr lvl="1" defTabSz="914400" eaLnBrk="0" fontAlgn="base" hangingPunct="0">
              <a:spcBef>
                <a:spcPct val="0"/>
              </a:spcBef>
              <a:spcAft>
                <a:spcPct val="0"/>
              </a:spcAft>
              <a:buFontTx/>
              <a:buChar char="•"/>
            </a:pPr>
            <a:r>
              <a:rPr lang="en-US" altLang="en-US" sz="1200" dirty="0">
                <a:solidFill>
                  <a:srgbClr val="404040"/>
                </a:solidFill>
                <a:latin typeface="Arial" panose="020B0604020202020204" pitchFamily="34" charset="0"/>
                <a:cs typeface="Times New Roman" panose="02020603050405020304" pitchFamily="18" charset="0"/>
              </a:rPr>
              <a:t> Retain flexibility, responsiveness, and a pragmatic approach to project delivery rather than strictly adhering to a single methodology.</a:t>
            </a:r>
          </a:p>
          <a:p>
            <a:pPr marL="0" marR="0">
              <a:spcBef>
                <a:spcPts val="0"/>
              </a:spcBef>
              <a:spcAft>
                <a:spcPts val="0"/>
              </a:spcAft>
            </a:pPr>
            <a:br>
              <a:rPr lang="en-US" sz="1200" dirty="0">
                <a:solidFill>
                  <a:srgbClr val="404040"/>
                </a:solidFill>
                <a:latin typeface="Arial" panose="020B0604020202020204" pitchFamily="34" charset="0"/>
                <a:cs typeface="Times New Roman" panose="02020603050405020304" pitchFamily="18" charset="0"/>
              </a:rPr>
            </a:br>
            <a:endParaRPr lang="en-US" sz="1200" dirty="0">
              <a:solidFill>
                <a:srgbClr val="404040"/>
              </a:solidFill>
              <a:latin typeface="Arial" panose="020B0604020202020204" pitchFamily="34" charset="0"/>
              <a:cs typeface="Times New Roman" panose="02020603050405020304" pitchFamily="18" charset="0"/>
            </a:endParaRPr>
          </a:p>
        </p:txBody>
      </p:sp>
      <p:pic>
        <p:nvPicPr>
          <p:cNvPr id="5" name="Picture 4" descr="A picture containing text&#10;&#10;Description automatically generated">
            <a:extLst>
              <a:ext uri="{FF2B5EF4-FFF2-40B4-BE49-F238E27FC236}">
                <a16:creationId xmlns:a16="http://schemas.microsoft.com/office/drawing/2014/main" id="{1C508DB5-0F92-412B-834C-97FBDE1EDE5B}"/>
              </a:ext>
            </a:extLst>
          </p:cNvPr>
          <p:cNvPicPr>
            <a:picLocks noChangeAspect="1"/>
          </p:cNvPicPr>
          <p:nvPr/>
        </p:nvPicPr>
        <p:blipFill>
          <a:blip r:embed="rId2"/>
          <a:stretch>
            <a:fillRect/>
          </a:stretch>
        </p:blipFill>
        <p:spPr>
          <a:xfrm>
            <a:off x="7887308" y="1604401"/>
            <a:ext cx="854533" cy="878112"/>
          </a:xfrm>
          <a:prstGeom prst="rect">
            <a:avLst/>
          </a:prstGeom>
        </p:spPr>
      </p:pic>
      <p:pic>
        <p:nvPicPr>
          <p:cNvPr id="6" name="Graphic 5" descr="Caret Left with solid fill">
            <a:hlinkClick r:id="" action="ppaction://hlinkshowjump?jump=previousslide"/>
            <a:extLst>
              <a:ext uri="{FF2B5EF4-FFF2-40B4-BE49-F238E27FC236}">
                <a16:creationId xmlns:a16="http://schemas.microsoft.com/office/drawing/2014/main" id="{D9AE0997-14A7-48D0-9ECA-55DCE95B78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943600"/>
            <a:ext cx="914400" cy="914400"/>
          </a:xfrm>
          <a:prstGeom prst="rect">
            <a:avLst/>
          </a:prstGeom>
        </p:spPr>
      </p:pic>
      <p:pic>
        <p:nvPicPr>
          <p:cNvPr id="8" name="Graphic 7" descr="Caret Right with solid fill">
            <a:hlinkClick r:id="" action="ppaction://hlinkshowjump?jump=nextslide"/>
            <a:extLst>
              <a:ext uri="{FF2B5EF4-FFF2-40B4-BE49-F238E27FC236}">
                <a16:creationId xmlns:a16="http://schemas.microsoft.com/office/drawing/2014/main" id="{F1351115-E20A-47A6-A2B6-34ACECE214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934965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p:txBody>
          <a:bodyPr/>
          <a:lstStyle/>
          <a:p>
            <a:r>
              <a:rPr lang="en-US" b="1" dirty="0"/>
              <a:t>Use Case (Fictional)</a:t>
            </a:r>
          </a:p>
        </p:txBody>
      </p:sp>
      <p:sp>
        <p:nvSpPr>
          <p:cNvPr id="7" name="TextBox 6">
            <a:extLst>
              <a:ext uri="{FF2B5EF4-FFF2-40B4-BE49-F238E27FC236}">
                <a16:creationId xmlns:a16="http://schemas.microsoft.com/office/drawing/2014/main" id="{44F4D86C-6A7C-476D-9587-23BBAE9C6222}"/>
              </a:ext>
            </a:extLst>
          </p:cNvPr>
          <p:cNvSpPr txBox="1"/>
          <p:nvPr/>
        </p:nvSpPr>
        <p:spPr>
          <a:xfrm>
            <a:off x="1405155" y="1940276"/>
            <a:ext cx="6098796" cy="4418133"/>
          </a:xfrm>
          <a:prstGeom prst="rect">
            <a:avLst/>
          </a:prstGeom>
          <a:noFill/>
        </p:spPr>
        <p:txBody>
          <a:bodyPr wrap="square">
            <a:spAutoFit/>
          </a:bodyPr>
          <a:lstStyle/>
          <a:p>
            <a:pPr marL="0" marR="0">
              <a:lnSpc>
                <a:spcPct val="120000"/>
              </a:lnSpc>
              <a:spcBef>
                <a:spcPts val="0"/>
              </a:spcBef>
              <a:spcAft>
                <a:spcPts val="900"/>
              </a:spcAft>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CS Inc. provides maintenance services for material handling and transportation equipment.  CS Inc. has a customized CRM which it uses manage its inventory, customers, and services.  The current CRM has undergone multiple customizations and upgrades and has become very costly to implement new process that match the ever-growing business needs.  Over the past two years CS Inc. has experience a 15% increase in services outsource to sub-contractor; however, the current system does not have automated processes that allows the company to manage sub-contractors, sub-contractor servicing, and the sub-contractor invoicing and payments process. CS Inc.  has identified a high priority need to for a process to manage sub-contractor.  The executive board of CS needs to make a well-informed decision which will determine if CS Inc needs to purchase a new CRM of build business solutions from its existing platforms. CS Inc.’s needs an operational model of a scalable multi-platform automated solution which it can integrate with its current CRM to help management determine if the Power Platform will meet its requirements.</a:t>
            </a:r>
          </a:p>
          <a:p>
            <a:r>
              <a:rPr lang="en-US" sz="1200" dirty="0">
                <a:solidFill>
                  <a:srgbClr val="404040"/>
                </a:solidFill>
                <a:latin typeface="Arial" panose="020B0604020202020204" pitchFamily="34" charset="0"/>
                <a:cs typeface="Times New Roman" panose="02020603050405020304" pitchFamily="18" charset="0"/>
              </a:rPr>
              <a:t>This presentation demonstrates:</a:t>
            </a:r>
          </a:p>
          <a:p>
            <a:endParaRPr lang="en-US" sz="1200" dirty="0">
              <a:solidFill>
                <a:srgbClr val="404040"/>
              </a:solidFill>
              <a:latin typeface="Arial" panose="020B0604020202020204" pitchFamily="34" charset="0"/>
              <a:cs typeface="Times New Roman" panose="02020603050405020304" pitchFamily="18" charset="0"/>
            </a:endParaRPr>
          </a:p>
          <a:p>
            <a:pPr marL="628650" lvl="1" indent="-171450">
              <a:buFont typeface="Arial" panose="020B0604020202020204" pitchFamily="34" charset="0"/>
              <a:buChar char="•"/>
            </a:pPr>
            <a:r>
              <a:rPr lang="en-US" sz="1200" dirty="0">
                <a:solidFill>
                  <a:srgbClr val="404040"/>
                </a:solidFill>
                <a:latin typeface="Arial" panose="020B0604020202020204" pitchFamily="34" charset="0"/>
                <a:cs typeface="Times New Roman" panose="02020603050405020304" pitchFamily="18" charset="0"/>
              </a:rPr>
              <a:t>Seamless integration of Power Platform with Azure resources</a:t>
            </a:r>
          </a:p>
          <a:p>
            <a:pPr marL="628650" lvl="1" indent="-171450">
              <a:buFont typeface="Arial" panose="020B0604020202020204" pitchFamily="34" charset="0"/>
              <a:buChar char="•"/>
            </a:pPr>
            <a:endParaRPr lang="en-US" sz="1200" dirty="0">
              <a:solidFill>
                <a:srgbClr val="404040"/>
              </a:solidFill>
              <a:latin typeface="Arial" panose="020B0604020202020204" pitchFamily="34" charset="0"/>
              <a:cs typeface="Times New Roman" panose="02020603050405020304" pitchFamily="18" charset="0"/>
            </a:endParaRPr>
          </a:p>
          <a:p>
            <a:pPr marL="628650" lvl="1" indent="-171450">
              <a:buFont typeface="Arial" panose="020B0604020202020204" pitchFamily="34" charset="0"/>
              <a:buChar char="•"/>
            </a:pPr>
            <a:r>
              <a:rPr lang="en-US" sz="1200" dirty="0">
                <a:solidFill>
                  <a:srgbClr val="404040"/>
                </a:solidFill>
                <a:latin typeface="Arial" panose="020B0604020202020204" pitchFamily="34" charset="0"/>
                <a:cs typeface="Times New Roman" panose="02020603050405020304" pitchFamily="18" charset="0"/>
              </a:rPr>
              <a:t>My inherent and retained expertise in cloud-based and cross-platform data integration, enabling consistent delivery of high-value solutions</a:t>
            </a:r>
          </a:p>
        </p:txBody>
      </p:sp>
      <p:pic>
        <p:nvPicPr>
          <p:cNvPr id="4" name="Graphic 3" descr="Caret Left with solid fill">
            <a:hlinkClick r:id="" action="ppaction://hlinkshowjump?jump=previousslide"/>
            <a:extLst>
              <a:ext uri="{FF2B5EF4-FFF2-40B4-BE49-F238E27FC236}">
                <a16:creationId xmlns:a16="http://schemas.microsoft.com/office/drawing/2014/main" id="{3B583699-F6DC-4B0A-B311-784EB20F0D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18A7DDA2-38CF-4E81-A1FE-820FDD2368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445065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p:txBody>
          <a:bodyPr/>
          <a:lstStyle/>
          <a:p>
            <a:r>
              <a:rPr lang="en-US" b="1" dirty="0"/>
              <a:t>Execution Strategy</a:t>
            </a:r>
          </a:p>
        </p:txBody>
      </p:sp>
      <p:sp>
        <p:nvSpPr>
          <p:cNvPr id="7" name="TextBox 6">
            <a:extLst>
              <a:ext uri="{FF2B5EF4-FFF2-40B4-BE49-F238E27FC236}">
                <a16:creationId xmlns:a16="http://schemas.microsoft.com/office/drawing/2014/main" id="{44F4D86C-6A7C-476D-9587-23BBAE9C6222}"/>
              </a:ext>
            </a:extLst>
          </p:cNvPr>
          <p:cNvSpPr txBox="1"/>
          <p:nvPr/>
        </p:nvSpPr>
        <p:spPr>
          <a:xfrm>
            <a:off x="1383002" y="1371494"/>
            <a:ext cx="7129576" cy="2812758"/>
          </a:xfrm>
          <a:prstGeom prst="rect">
            <a:avLst/>
          </a:prstGeom>
          <a:noFill/>
        </p:spPr>
        <p:txBody>
          <a:bodyPr wrap="square" lIns="91440" tIns="45720" rIns="91440" bIns="45720" anchor="t">
            <a:spAutoFit/>
          </a:bodyPr>
          <a:lstStyle/>
          <a:p>
            <a:pPr marL="0" marR="0" lvl="0" indent="0" algn="l" defTabSz="457200" rtl="0" eaLnBrk="1" fontAlgn="auto" latinLnBrk="0" hangingPunct="1">
              <a:lnSpc>
                <a:spcPct val="100000"/>
              </a:lnSpc>
              <a:spcBef>
                <a:spcPts val="3000"/>
              </a:spcBef>
              <a:spcAft>
                <a:spcPts val="1200"/>
              </a:spcAft>
              <a:buClrTx/>
              <a:buSzTx/>
              <a:buFontTx/>
              <a:buNone/>
              <a:tabLst/>
              <a:defRPr/>
            </a:pPr>
            <a:r>
              <a:rPr kumimoji="0" lang="en-US" sz="1600" b="1" i="0" u="none" strike="noStrike" kern="1200" cap="none" spc="0" normalizeH="0" baseline="0" noProof="0" dirty="0">
                <a:ln>
                  <a:noFill/>
                </a:ln>
                <a:solidFill>
                  <a:srgbClr val="90C226"/>
                </a:solidFill>
                <a:effectLst/>
                <a:uLnTx/>
                <a:uFillTx/>
                <a:latin typeface="Arial" panose="020B0604020202020204" pitchFamily="34" charset="0"/>
                <a:ea typeface="+mn-ea"/>
                <a:cs typeface="Arial" panose="020B0604020202020204" pitchFamily="34" charset="0"/>
              </a:rPr>
              <a:t>Strategy</a:t>
            </a:r>
          </a:p>
          <a:p>
            <a:pPr marL="0" marR="0">
              <a:lnSpc>
                <a:spcPct val="120000"/>
              </a:lnSpc>
              <a:spcBef>
                <a:spcPts val="0"/>
              </a:spcBef>
              <a:spcAft>
                <a:spcPts val="900"/>
              </a:spcAft>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FullyFBS execution strategy is built on Hybrid Agile approach.  FullyFBS ‘s standard execution strategy integrates an incremental and iterative development process which leverages the </a:t>
            </a:r>
            <a:r>
              <a:rPr lang="en-US" sz="1200" u="sng" dirty="0">
                <a:solidFill>
                  <a:schemeClr val="accent2">
                    <a:lumMod val="50000"/>
                  </a:schemeClr>
                </a:solidFill>
                <a:effectLst/>
                <a:latin typeface="Arial" panose="020B0604020202020204" pitchFamily="34" charset="0"/>
                <a:ea typeface="Arial" panose="020B06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Agile Alliance manifesto</a:t>
            </a: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  FullyFBS will incessantly advocate: </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Individuals and interactions over processes and tools</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Working software over comprehensive documentation</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Customer collaboration over contract negotiation</a:t>
            </a:r>
          </a:p>
          <a:p>
            <a:pPr marL="342900" indent="-342900">
              <a:lnSpc>
                <a:spcPct val="120000"/>
              </a:lnSpc>
              <a:spcAft>
                <a:spcPts val="900"/>
              </a:spcAft>
              <a:buFont typeface="Symbol" panose="05050102010706020507" pitchFamily="18" charset="2"/>
              <a:buChar char=""/>
            </a:pPr>
            <a:r>
              <a:rPr lang="en-US" sz="1200" dirty="0">
                <a:solidFill>
                  <a:srgbClr val="404040"/>
                </a:solidFill>
                <a:effectLst/>
                <a:latin typeface="Arial"/>
                <a:ea typeface="Arial" panose="020B0604020202020204" pitchFamily="34" charset="0"/>
                <a:cs typeface="Times New Roman"/>
              </a:rPr>
              <a:t>Responding to change over following a plan</a:t>
            </a:r>
            <a:r>
              <a:rPr lang="en-US" sz="1200" dirty="0">
                <a:solidFill>
                  <a:srgbClr val="404040"/>
                </a:solidFill>
                <a:latin typeface="Arial"/>
                <a:ea typeface="Arial" panose="020B0604020202020204" pitchFamily="34" charset="0"/>
                <a:cs typeface="Times New Roman"/>
              </a:rPr>
              <a:t> </a:t>
            </a:r>
          </a:p>
          <a:p>
            <a:pPr marL="342900" indent="-342900">
              <a:lnSpc>
                <a:spcPct val="120000"/>
              </a:lnSpc>
              <a:spcAft>
                <a:spcPts val="900"/>
              </a:spcAft>
              <a:buFont typeface="Symbol" panose="05050102010706020507" pitchFamily="18" charset="2"/>
              <a:buChar char=""/>
            </a:pPr>
            <a:endParaRPr lang="en-US" sz="1200" dirty="0">
              <a:solidFill>
                <a:srgbClr val="404040"/>
              </a:solidFill>
              <a:latin typeface="Arial"/>
              <a:ea typeface="Arial" panose="020B0604020202020204" pitchFamily="34" charset="0"/>
              <a:cs typeface="Times New Roman"/>
            </a:endParaRPr>
          </a:p>
          <a:p>
            <a:pPr marL="342900" indent="-342900">
              <a:lnSpc>
                <a:spcPct val="120000"/>
              </a:lnSpc>
              <a:spcAft>
                <a:spcPts val="900"/>
              </a:spcAft>
              <a:buFont typeface="Symbol" panose="05050102010706020507" pitchFamily="18" charset="2"/>
              <a:buChar char=""/>
            </a:pPr>
            <a:endPar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endParaRPr>
          </a:p>
        </p:txBody>
      </p:sp>
      <p:pic>
        <p:nvPicPr>
          <p:cNvPr id="5" name="Graphic 4" descr="Caret Left with solid fill">
            <a:hlinkClick r:id="" action="ppaction://hlinkshowjump?jump=previousslide"/>
            <a:extLst>
              <a:ext uri="{FF2B5EF4-FFF2-40B4-BE49-F238E27FC236}">
                <a16:creationId xmlns:a16="http://schemas.microsoft.com/office/drawing/2014/main" id="{5114E262-143A-4EF6-B2A6-8F6A0D2164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943600"/>
            <a:ext cx="914400" cy="914400"/>
          </a:xfrm>
          <a:prstGeom prst="rect">
            <a:avLst/>
          </a:prstGeom>
        </p:spPr>
      </p:pic>
      <p:pic>
        <p:nvPicPr>
          <p:cNvPr id="6" name="Graphic 5" descr="Caret Right with solid fill">
            <a:hlinkClick r:id="" action="ppaction://hlinkshowjump?jump=nextslide"/>
            <a:extLst>
              <a:ext uri="{FF2B5EF4-FFF2-40B4-BE49-F238E27FC236}">
                <a16:creationId xmlns:a16="http://schemas.microsoft.com/office/drawing/2014/main" id="{856564BC-3081-4897-9597-8F6AAADADF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77600" y="5943600"/>
            <a:ext cx="914400" cy="914400"/>
          </a:xfrm>
          <a:prstGeom prst="rect">
            <a:avLst/>
          </a:prstGeom>
        </p:spPr>
      </p:pic>
      <p:sp>
        <p:nvSpPr>
          <p:cNvPr id="11" name="TextBox 10">
            <a:extLst>
              <a:ext uri="{FF2B5EF4-FFF2-40B4-BE49-F238E27FC236}">
                <a16:creationId xmlns:a16="http://schemas.microsoft.com/office/drawing/2014/main" id="{9B001473-57F8-4805-A94C-68EFBEDE1F03}"/>
              </a:ext>
            </a:extLst>
          </p:cNvPr>
          <p:cNvSpPr txBox="1"/>
          <p:nvPr/>
        </p:nvSpPr>
        <p:spPr>
          <a:xfrm>
            <a:off x="1296738" y="4212019"/>
            <a:ext cx="7147718" cy="2360326"/>
          </a:xfrm>
          <a:prstGeom prst="rect">
            <a:avLst/>
          </a:prstGeom>
          <a:noFill/>
        </p:spPr>
        <p:txBody>
          <a:bodyPr wrap="square" lIns="91440" tIns="45720" rIns="91440" bIns="45720" anchor="t">
            <a:spAutoFit/>
          </a:bodyPr>
          <a:lstStyle/>
          <a:p>
            <a:pPr marL="0" marR="0" lvl="0" indent="0" algn="l" defTabSz="457200">
              <a:lnSpc>
                <a:spcPct val="100000"/>
              </a:lnSpc>
              <a:spcBef>
                <a:spcPts val="3000"/>
              </a:spcBef>
              <a:spcAft>
                <a:spcPts val="1200"/>
              </a:spcAft>
              <a:buNone/>
              <a:tabLst/>
              <a:defRPr/>
            </a:pPr>
            <a:r>
              <a:rPr lang="en-US" sz="1600" b="1" dirty="0">
                <a:solidFill>
                  <a:srgbClr val="90C226"/>
                </a:solidFill>
                <a:latin typeface="Arial"/>
                <a:cs typeface="Arial"/>
              </a:rPr>
              <a:t>Deliverables</a:t>
            </a:r>
            <a:endParaRPr lang="en-US" dirty="0">
              <a:ea typeface="+mn-ea"/>
            </a:endParaRPr>
          </a:p>
          <a:p>
            <a:pPr>
              <a:lnSpc>
                <a:spcPct val="120000"/>
              </a:lnSpc>
              <a:spcAft>
                <a:spcPts val="900"/>
              </a:spcAft>
            </a:pPr>
            <a:r>
              <a:rPr lang="en-US" sz="1200" dirty="0">
                <a:solidFill>
                  <a:srgbClr val="404040"/>
                </a:solidFill>
                <a:latin typeface="Arial" panose="020B0604020202020204" pitchFamily="34" charset="0"/>
                <a:cs typeface="Times New Roman" panose="02020603050405020304" pitchFamily="18" charset="0"/>
              </a:rPr>
              <a:t>With the understanding this project is for academic purpose and within the constraints of limited time, rendering of the following deliverables with deem this project a success: </a:t>
            </a:r>
          </a:p>
          <a:p>
            <a:pPr marL="342900" indent="-342900">
              <a:lnSpc>
                <a:spcPct val="120000"/>
              </a:lnSpc>
              <a:buFont typeface="Symbol" panose="05050102010706020507" pitchFamily="18" charset="2"/>
              <a:buChar char=""/>
            </a:pPr>
            <a:r>
              <a:rPr lang="en-US" sz="1200" b="1" dirty="0">
                <a:solidFill>
                  <a:srgbClr val="404040"/>
                </a:solidFill>
                <a:latin typeface="Arial"/>
                <a:ea typeface="Arial" panose="020B0604020202020204" pitchFamily="34" charset="0"/>
                <a:cs typeface="Times New Roman"/>
              </a:rPr>
              <a:t>Data Sources with ERD</a:t>
            </a:r>
            <a:r>
              <a:rPr lang="en-US" sz="1200" dirty="0">
                <a:solidFill>
                  <a:srgbClr val="404040"/>
                </a:solidFill>
                <a:latin typeface="Arial"/>
                <a:ea typeface="Arial" panose="020B0604020202020204" pitchFamily="34" charset="0"/>
                <a:cs typeface="Times New Roman"/>
              </a:rPr>
              <a:t> -Used </a:t>
            </a:r>
            <a:r>
              <a:rPr lang="en-US" sz="1200" dirty="0" err="1">
                <a:solidFill>
                  <a:srgbClr val="404040"/>
                </a:solidFill>
                <a:latin typeface="Arial"/>
                <a:ea typeface="Arial" panose="020B0604020202020204" pitchFamily="34" charset="0"/>
                <a:cs typeface="Times New Roman"/>
              </a:rPr>
              <a:t>DataVerse</a:t>
            </a:r>
            <a:r>
              <a:rPr lang="en-US" sz="1200" dirty="0">
                <a:solidFill>
                  <a:srgbClr val="404040"/>
                </a:solidFill>
                <a:latin typeface="Arial"/>
                <a:ea typeface="Arial" panose="020B0604020202020204" pitchFamily="34" charset="0"/>
                <a:cs typeface="Times New Roman"/>
              </a:rPr>
              <a:t> and Azure SQL)</a:t>
            </a:r>
            <a:endParaRPr lang="en-US" sz="1200" dirty="0">
              <a:solidFill>
                <a:srgbClr val="404040"/>
              </a:solidFill>
              <a:effectLst/>
              <a:latin typeface="Arial"/>
              <a:ea typeface="Arial" panose="020B0604020202020204" pitchFamily="34" charset="0"/>
              <a:cs typeface="Times New Roman" panose="02020603050405020304" pitchFamily="18" charset="0"/>
            </a:endParaRPr>
          </a:p>
          <a:p>
            <a:pPr marL="342900" indent="-342900">
              <a:lnSpc>
                <a:spcPct val="120000"/>
              </a:lnSpc>
              <a:buFont typeface="Symbol" panose="05050102010706020507" pitchFamily="18" charset="2"/>
              <a:buChar char=""/>
            </a:pPr>
            <a:r>
              <a:rPr lang="en-US" sz="1200" b="1" dirty="0">
                <a:solidFill>
                  <a:srgbClr val="404040"/>
                </a:solidFill>
                <a:latin typeface="Arial"/>
                <a:ea typeface="Arial" panose="020B0604020202020204" pitchFamily="34" charset="0"/>
                <a:cs typeface="Times New Roman"/>
              </a:rPr>
              <a:t>Customized and OTB Apps</a:t>
            </a:r>
            <a:r>
              <a:rPr lang="en-US" sz="1200" dirty="0">
                <a:solidFill>
                  <a:srgbClr val="404040"/>
                </a:solidFill>
                <a:latin typeface="Arial"/>
                <a:ea typeface="Arial" panose="020B0604020202020204" pitchFamily="34" charset="0"/>
                <a:cs typeface="Times New Roman"/>
              </a:rPr>
              <a:t> - Use of Azure DB, </a:t>
            </a:r>
            <a:r>
              <a:rPr lang="en-US" sz="1200" dirty="0" err="1">
                <a:solidFill>
                  <a:srgbClr val="404040"/>
                </a:solidFill>
                <a:latin typeface="Arial"/>
                <a:ea typeface="Arial" panose="020B0604020202020204" pitchFamily="34" charset="0"/>
                <a:cs typeface="Times New Roman"/>
              </a:rPr>
              <a:t>PowerFX</a:t>
            </a:r>
            <a:r>
              <a:rPr lang="en-US" sz="1200" dirty="0">
                <a:solidFill>
                  <a:srgbClr val="404040"/>
                </a:solidFill>
                <a:latin typeface="Arial"/>
                <a:ea typeface="Arial" panose="020B0604020202020204" pitchFamily="34" charset="0"/>
                <a:cs typeface="Times New Roman"/>
              </a:rPr>
              <a:t>, Power Flows, and SQL Store Procedures</a:t>
            </a:r>
            <a:endParaRPr lang="en-US" sz="1200" dirty="0">
              <a:solidFill>
                <a:srgbClr val="404040"/>
              </a:solidFill>
              <a:effectLst/>
              <a:latin typeface="Arial"/>
              <a:ea typeface="Arial" panose="020B0604020202020204" pitchFamily="34" charset="0"/>
              <a:cs typeface="Times New Roman" panose="02020603050405020304" pitchFamily="18" charset="0"/>
            </a:endParaRPr>
          </a:p>
          <a:p>
            <a:pPr marL="342900" indent="-342900">
              <a:lnSpc>
                <a:spcPct val="120000"/>
              </a:lnSpc>
              <a:buFont typeface="Symbol" panose="05050102010706020507" pitchFamily="18" charset="2"/>
              <a:buChar char=""/>
            </a:pPr>
            <a:r>
              <a:rPr lang="en-US" sz="1200" b="1" dirty="0">
                <a:solidFill>
                  <a:srgbClr val="404040"/>
                </a:solidFill>
                <a:latin typeface="Arial"/>
                <a:ea typeface="Arial" panose="020B0604020202020204" pitchFamily="34" charset="0"/>
                <a:cs typeface="Times New Roman"/>
              </a:rPr>
              <a:t>Visualizations and Dashboards</a:t>
            </a:r>
            <a:r>
              <a:rPr lang="en-US" sz="1200" dirty="0">
                <a:solidFill>
                  <a:srgbClr val="404040"/>
                </a:solidFill>
                <a:latin typeface="Arial"/>
                <a:ea typeface="Arial" panose="020B0604020202020204" pitchFamily="34" charset="0"/>
                <a:cs typeface="Times New Roman"/>
              </a:rPr>
              <a:t> - PowerBi Visuals with Use of Python </a:t>
            </a:r>
            <a:r>
              <a:rPr lang="en-US" sz="1200" dirty="0" err="1">
                <a:solidFill>
                  <a:srgbClr val="404040"/>
                </a:solidFill>
                <a:latin typeface="Arial"/>
                <a:ea typeface="Arial" panose="020B0604020202020204" pitchFamily="34" charset="0"/>
                <a:cs typeface="Times New Roman"/>
              </a:rPr>
              <a:t>Mapplot</a:t>
            </a:r>
            <a:r>
              <a:rPr lang="en-US" sz="1200" dirty="0">
                <a:solidFill>
                  <a:srgbClr val="404040"/>
                </a:solidFill>
                <a:latin typeface="Arial"/>
                <a:ea typeface="Arial" panose="020B0604020202020204" pitchFamily="34" charset="0"/>
                <a:cs typeface="Times New Roman"/>
              </a:rPr>
              <a:t> </a:t>
            </a:r>
            <a:r>
              <a:rPr lang="en-US" sz="1200" dirty="0" err="1">
                <a:solidFill>
                  <a:srgbClr val="404040"/>
                </a:solidFill>
                <a:latin typeface="Arial"/>
                <a:ea typeface="Arial" panose="020B0604020202020204" pitchFamily="34" charset="0"/>
                <a:cs typeface="Times New Roman"/>
              </a:rPr>
              <a:t>ect</a:t>
            </a:r>
            <a:r>
              <a:rPr lang="en-US" sz="1200" dirty="0">
                <a:solidFill>
                  <a:srgbClr val="404040"/>
                </a:solidFill>
                <a:latin typeface="Arial"/>
                <a:ea typeface="Arial" panose="020B0604020202020204" pitchFamily="34" charset="0"/>
                <a:cs typeface="Times New Roman"/>
              </a:rPr>
              <a:t>…</a:t>
            </a:r>
          </a:p>
          <a:p>
            <a:pPr marL="342900" indent="-342900">
              <a:lnSpc>
                <a:spcPct val="120000"/>
              </a:lnSpc>
              <a:buFont typeface="Symbol" panose="05050102010706020507" pitchFamily="18" charset="2"/>
              <a:buChar char=""/>
            </a:pPr>
            <a:r>
              <a:rPr lang="en-US" sz="1200" b="1" dirty="0">
                <a:solidFill>
                  <a:srgbClr val="404040"/>
                </a:solidFill>
                <a:latin typeface="Arial"/>
                <a:ea typeface="Arial" panose="020B0604020202020204" pitchFamily="34" charset="0"/>
                <a:cs typeface="Times New Roman"/>
              </a:rPr>
              <a:t>Web UI </a:t>
            </a:r>
            <a:r>
              <a:rPr lang="en-US" sz="1200" dirty="0">
                <a:solidFill>
                  <a:srgbClr val="404040"/>
                </a:solidFill>
                <a:latin typeface="Arial"/>
                <a:ea typeface="Arial" panose="020B0604020202020204" pitchFamily="34" charset="0"/>
                <a:cs typeface="Times New Roman"/>
              </a:rPr>
              <a:t>- UI hosted by Portal Management with embedded Azure AD, PowerApps, and </a:t>
            </a:r>
            <a:r>
              <a:rPr lang="en-US" sz="1200" dirty="0" err="1">
                <a:solidFill>
                  <a:srgbClr val="404040"/>
                </a:solidFill>
                <a:latin typeface="Arial"/>
                <a:ea typeface="Arial" panose="020B0604020202020204" pitchFamily="34" charset="0"/>
                <a:cs typeface="Times New Roman"/>
              </a:rPr>
              <a:t>PowerBI</a:t>
            </a:r>
            <a:endParaRPr lang="en-US" sz="1200" dirty="0">
              <a:solidFill>
                <a:srgbClr val="404040"/>
              </a:solidFill>
              <a:latin typeface="Arial"/>
              <a:ea typeface="Arial" panose="020B0604020202020204" pitchFamily="34" charset="0"/>
              <a:cs typeface="Times New Roman"/>
            </a:endParaRPr>
          </a:p>
          <a:p>
            <a:pPr marL="342900" indent="-342900">
              <a:lnSpc>
                <a:spcPct val="120000"/>
              </a:lnSpc>
              <a:buFont typeface="Symbol" panose="05050102010706020507" pitchFamily="18" charset="2"/>
              <a:buChar char=""/>
            </a:pPr>
            <a:r>
              <a:rPr lang="en-US" sz="1200" b="1" dirty="0">
                <a:solidFill>
                  <a:srgbClr val="404040"/>
                </a:solidFill>
                <a:latin typeface="Arial"/>
                <a:ea typeface="Arial" panose="020B0604020202020204" pitchFamily="34" charset="0"/>
                <a:cs typeface="Times New Roman"/>
              </a:rPr>
              <a:t>Production of Invoices</a:t>
            </a:r>
            <a:r>
              <a:rPr lang="en-US" sz="1200" dirty="0">
                <a:solidFill>
                  <a:srgbClr val="404040"/>
                </a:solidFill>
                <a:latin typeface="Arial"/>
                <a:ea typeface="Arial" panose="020B0604020202020204" pitchFamily="34" charset="0"/>
                <a:cs typeface="Times New Roman"/>
              </a:rPr>
              <a:t> – Used Power Bi Report Builder for paginated reports</a:t>
            </a:r>
            <a:endParaRPr lang="en-US" sz="1200" dirty="0">
              <a:solidFill>
                <a:srgbClr val="404040"/>
              </a:solidFill>
              <a:latin typeface="Arial"/>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85906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p:txBody>
          <a:bodyPr/>
          <a:lstStyle/>
          <a:p>
            <a:r>
              <a:rPr lang="en-US" b="1" dirty="0"/>
              <a:t>Project Overview</a:t>
            </a:r>
          </a:p>
        </p:txBody>
      </p:sp>
      <p:sp>
        <p:nvSpPr>
          <p:cNvPr id="7" name="TextBox 6">
            <a:extLst>
              <a:ext uri="{FF2B5EF4-FFF2-40B4-BE49-F238E27FC236}">
                <a16:creationId xmlns:a16="http://schemas.microsoft.com/office/drawing/2014/main" id="{44F4D86C-6A7C-476D-9587-23BBAE9C6222}"/>
              </a:ext>
            </a:extLst>
          </p:cNvPr>
          <p:cNvSpPr txBox="1"/>
          <p:nvPr/>
        </p:nvSpPr>
        <p:spPr>
          <a:xfrm>
            <a:off x="1405155" y="1739636"/>
            <a:ext cx="6098796" cy="4394729"/>
          </a:xfrm>
          <a:prstGeom prst="rect">
            <a:avLst/>
          </a:prstGeom>
          <a:noFill/>
        </p:spPr>
        <p:txBody>
          <a:bodyPr wrap="square" lIns="91440" tIns="45720" rIns="91440" bIns="45720" anchor="t">
            <a:spAutoFit/>
          </a:bodyPr>
          <a:lstStyle/>
          <a:p>
            <a:pPr marL="0" marR="0" lvl="0" indent="0" algn="l" defTabSz="457200" rtl="0" eaLnBrk="1" fontAlgn="auto" latinLnBrk="0" hangingPunct="1">
              <a:lnSpc>
                <a:spcPct val="100000"/>
              </a:lnSpc>
              <a:spcBef>
                <a:spcPts val="3000"/>
              </a:spcBef>
              <a:spcAft>
                <a:spcPts val="1200"/>
              </a:spcAft>
              <a:buClrTx/>
              <a:buSzTx/>
              <a:buFontTx/>
              <a:buNone/>
              <a:tabLst/>
              <a:defRPr/>
            </a:pPr>
            <a:r>
              <a:rPr kumimoji="0" lang="en-US" sz="1600" b="1" i="0" u="none" strike="noStrike" kern="1200" cap="none" spc="0" normalizeH="0" baseline="0" noProof="0" dirty="0">
                <a:ln>
                  <a:noFill/>
                </a:ln>
                <a:solidFill>
                  <a:srgbClr val="90C226"/>
                </a:solidFill>
                <a:effectLst/>
                <a:uLnTx/>
                <a:uFillTx/>
                <a:latin typeface="Arial" panose="020B0604020202020204" pitchFamily="34" charset="0"/>
                <a:ea typeface="+mn-ea"/>
                <a:cs typeface="Arial" panose="020B0604020202020204" pitchFamily="34" charset="0"/>
              </a:rPr>
              <a:t>Opportunity</a:t>
            </a:r>
          </a:p>
          <a:p>
            <a:pPr marL="0" marR="0">
              <a:spcBef>
                <a:spcPts val="0"/>
              </a:spcBef>
              <a:spcAft>
                <a:spcPts val="0"/>
              </a:spcAft>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FullyFBS intends to capitalize on the plethora of the training opportunities this project provides.  FullyFBS intends to provide CS Inc. with a fully function business solution by developing an application (as a model) for CS to use as a technician invoice and payments application (TIPA). Although the Use Case is fictional; the intent of this project is to provide a proof of concept for using the Power Platform </a:t>
            </a:r>
            <a:r>
              <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rPr>
              <a:t>for the following:</a:t>
            </a: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  </a:t>
            </a:r>
          </a:p>
          <a:p>
            <a:pPr marL="0" marR="0">
              <a:spcBef>
                <a:spcPts val="0"/>
              </a:spcBef>
              <a:spcAft>
                <a:spcPts val="0"/>
              </a:spcAft>
            </a:pPr>
            <a:endPar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endParaRPr>
          </a:p>
          <a:p>
            <a:pPr marL="0" marR="0">
              <a:spcBef>
                <a:spcPts val="0"/>
              </a:spcBef>
              <a:spcAft>
                <a:spcPts val="0"/>
              </a:spcAft>
            </a:pPr>
            <a:endPar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20000"/>
              </a:lnSpc>
              <a:spcBef>
                <a:spcPts val="0"/>
              </a:spcBef>
              <a:spcAft>
                <a:spcPts val="300"/>
              </a:spcAft>
              <a:buFont typeface="Symbol" panose="05050102010706020507" pitchFamily="18" charset="2"/>
              <a:buChar char=""/>
              <a:tabLst>
                <a:tab pos="228600" algn="l"/>
                <a:tab pos="457200" algn="l"/>
              </a:tabLst>
            </a:pPr>
            <a:r>
              <a:rPr lang="en-US" sz="1200" b="1"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Data and Connections:  </a:t>
            </a: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Employ SQL/Azure DB, </a:t>
            </a:r>
            <a:r>
              <a:rPr lang="en-US" sz="1200" dirty="0" err="1">
                <a:solidFill>
                  <a:srgbClr val="404040"/>
                </a:solidFill>
                <a:effectLst/>
                <a:latin typeface="Arial" panose="020B0604020202020204" pitchFamily="34" charset="0"/>
                <a:ea typeface="Arial" panose="020B0604020202020204" pitchFamily="34" charset="0"/>
                <a:cs typeface="Times New Roman" panose="02020603050405020304" pitchFamily="18" charset="0"/>
              </a:rPr>
              <a:t>DataVerse</a:t>
            </a: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 and various connectors to create, manage, store and query data. </a:t>
            </a:r>
          </a:p>
          <a:p>
            <a:pPr marL="342900" marR="0" lvl="0" indent="-342900">
              <a:lnSpc>
                <a:spcPct val="120000"/>
              </a:lnSpc>
              <a:spcBef>
                <a:spcPts val="0"/>
              </a:spcBef>
              <a:spcAft>
                <a:spcPts val="300"/>
              </a:spcAft>
              <a:buFont typeface="Symbol" panose="05050102010706020507" pitchFamily="18" charset="2"/>
              <a:buChar char=""/>
              <a:tabLst>
                <a:tab pos="228600" algn="l"/>
                <a:tab pos="457200" algn="l"/>
              </a:tabLst>
            </a:pPr>
            <a:r>
              <a:rPr lang="en-US" sz="1200" b="1"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Analytics and Visualizations: </a:t>
            </a: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Utilize qualitative and quantitative metrics, KPIs, visualizations, and Dashboards</a:t>
            </a:r>
            <a:r>
              <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rPr>
              <a:t> via Power Bi/Python.</a:t>
            </a:r>
          </a:p>
          <a:p>
            <a:pPr marL="342900" indent="-342900">
              <a:lnSpc>
                <a:spcPct val="120000"/>
              </a:lnSpc>
              <a:spcAft>
                <a:spcPts val="300"/>
              </a:spcAft>
              <a:buFont typeface="Symbol" panose="05050102010706020507" pitchFamily="18" charset="2"/>
              <a:buChar char=""/>
              <a:tabLst>
                <a:tab pos="228600" algn="l"/>
                <a:tab pos="457200" algn="l"/>
              </a:tabLst>
            </a:pPr>
            <a:r>
              <a:rPr lang="en-US" sz="1200" b="1"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Web Portal: </a:t>
            </a: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Harness the capability of creating a Web Portal to broadcast applications, visualizations, and manipulate data.</a:t>
            </a:r>
            <a:endPar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endParaRPr>
          </a:p>
          <a:p>
            <a:pPr marL="342900" indent="-342900">
              <a:lnSpc>
                <a:spcPct val="120000"/>
              </a:lnSpc>
              <a:spcAft>
                <a:spcPts val="300"/>
              </a:spcAft>
              <a:buFont typeface="Symbol" panose="05050102010706020507" pitchFamily="18" charset="2"/>
              <a:buChar char=""/>
              <a:tabLst>
                <a:tab pos="228600" algn="l"/>
                <a:tab pos="457200" algn="l"/>
              </a:tabLst>
            </a:pPr>
            <a:r>
              <a:rPr lang="en-US" sz="1200" b="1" dirty="0">
                <a:solidFill>
                  <a:srgbClr val="404040"/>
                </a:solidFill>
                <a:latin typeface="Arial" panose="020B0604020202020204" pitchFamily="34" charset="0"/>
                <a:ea typeface="Arial" panose="020B0604020202020204" pitchFamily="34" charset="0"/>
                <a:cs typeface="Times New Roman" panose="02020603050405020304" pitchFamily="18" charset="0"/>
              </a:rPr>
              <a:t>Application Development: </a:t>
            </a:r>
            <a:r>
              <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rPr>
              <a:t>Design and develop an application via Power Apps.  The platform will provide tools and features for data input, output, dataflows, workflows  and automation.</a:t>
            </a:r>
          </a:p>
          <a:p>
            <a:pPr marL="342900" marR="0" lvl="0" indent="-342900">
              <a:lnSpc>
                <a:spcPct val="120000"/>
              </a:lnSpc>
              <a:spcBef>
                <a:spcPts val="0"/>
              </a:spcBef>
              <a:spcAft>
                <a:spcPts val="300"/>
              </a:spcAft>
              <a:buFont typeface="Symbol" panose="05050102010706020507" pitchFamily="18" charset="2"/>
              <a:buChar char=""/>
              <a:tabLst>
                <a:tab pos="228600" algn="l"/>
                <a:tab pos="457200" algn="l"/>
              </a:tabLst>
            </a:pPr>
            <a:endPar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20000"/>
              </a:lnSpc>
              <a:spcBef>
                <a:spcPts val="0"/>
              </a:spcBef>
              <a:spcAft>
                <a:spcPts val="300"/>
              </a:spcAft>
              <a:buFont typeface="Symbol" panose="05050102010706020507" pitchFamily="18" charset="2"/>
              <a:buChar char=""/>
              <a:tabLst>
                <a:tab pos="228600" algn="l"/>
                <a:tab pos="457200" algn="l"/>
              </a:tabLst>
            </a:pPr>
            <a:r>
              <a:rPr lang="en-US" sz="1200" dirty="0">
                <a:solidFill>
                  <a:srgbClr val="404040"/>
                </a:solidFill>
                <a:latin typeface="Arial"/>
                <a:ea typeface="Arial" panose="020B0604020202020204" pitchFamily="34" charset="0"/>
                <a:cs typeface="Times New Roman"/>
              </a:rPr>
              <a:t> </a:t>
            </a:r>
            <a:endParaRPr lang="en-US" sz="1200" dirty="0">
              <a:solidFill>
                <a:srgbClr val="404040"/>
              </a:solidFill>
              <a:effectLst/>
              <a:latin typeface="Arial"/>
              <a:ea typeface="Arial" panose="020B0604020202020204" pitchFamily="34" charset="0"/>
              <a:cs typeface="Times New Roman" panose="02020603050405020304" pitchFamily="18" charset="0"/>
            </a:endParaRPr>
          </a:p>
        </p:txBody>
      </p:sp>
      <p:pic>
        <p:nvPicPr>
          <p:cNvPr id="4" name="Graphic 3" descr="Caret Left with solid fill">
            <a:hlinkClick r:id="" action="ppaction://hlinkshowjump?jump=previousslide"/>
            <a:extLst>
              <a:ext uri="{FF2B5EF4-FFF2-40B4-BE49-F238E27FC236}">
                <a16:creationId xmlns:a16="http://schemas.microsoft.com/office/drawing/2014/main" id="{92DC0846-7423-499D-9A2E-7DE60821A6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4F01FE8D-6062-4C3F-A6BC-C62CC2C676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2699289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p:txBody>
          <a:bodyPr/>
          <a:lstStyle/>
          <a:p>
            <a:r>
              <a:rPr lang="en-US" b="1" dirty="0"/>
              <a:t>Requirements Summary</a:t>
            </a:r>
          </a:p>
        </p:txBody>
      </p:sp>
      <p:sp>
        <p:nvSpPr>
          <p:cNvPr id="7" name="TextBox 6">
            <a:extLst>
              <a:ext uri="{FF2B5EF4-FFF2-40B4-BE49-F238E27FC236}">
                <a16:creationId xmlns:a16="http://schemas.microsoft.com/office/drawing/2014/main" id="{44F4D86C-6A7C-476D-9587-23BBAE9C6222}"/>
              </a:ext>
            </a:extLst>
          </p:cNvPr>
          <p:cNvSpPr txBox="1"/>
          <p:nvPr/>
        </p:nvSpPr>
        <p:spPr>
          <a:xfrm>
            <a:off x="1405155" y="1657136"/>
            <a:ext cx="6098796" cy="3543727"/>
          </a:xfrm>
          <a:prstGeom prst="rect">
            <a:avLst/>
          </a:prstGeom>
          <a:noFill/>
        </p:spPr>
        <p:txBody>
          <a:bodyPr wrap="square">
            <a:spAutoFit/>
          </a:bodyPr>
          <a:lstStyle/>
          <a:p>
            <a:pPr marL="0" marR="0">
              <a:spcBef>
                <a:spcPts val="3000"/>
              </a:spcBef>
              <a:spcAft>
                <a:spcPts val="1200"/>
              </a:spcAft>
            </a:pPr>
            <a:r>
              <a:rPr lang="en-US" sz="1600" b="1" dirty="0">
                <a:solidFill>
                  <a:schemeClr val="accent1"/>
                </a:solidFill>
                <a:latin typeface="Arial" panose="020B0604020202020204" pitchFamily="34" charset="0"/>
                <a:ea typeface="+mj-ea"/>
                <a:cs typeface="Arial" panose="020B0604020202020204" pitchFamily="34" charset="0"/>
              </a:rPr>
              <a:t>Proposed Solution</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An invoice and payment application built on a single platform which will allow connection to existing platforms, applications and/or services from on-premises or mobile devices.</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Low/No Code application platform supported by easy to learn features, scalability, cost saving maintenance and upgrade cost.</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Method for ranking service opportunities and technicians.</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Method for ranking service opportunities and technicians, grouping service requests into maintenance groups, predicting customer maintenance needs, and assigning the service request to preferred technicians based on availability.</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A scalable interactive knowledge base that provides best answers from the user’s perspective/category.</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Visualizations, dashboards and data insights on customers, technicians, invoices, and payments led by business rules, KPIs, and metrics.</a:t>
            </a:r>
          </a:p>
          <a:p>
            <a:pPr marL="342900" marR="0" lvl="0" indent="-342900">
              <a:lnSpc>
                <a:spcPct val="120000"/>
              </a:lnSpc>
              <a:spcBef>
                <a:spcPts val="0"/>
              </a:spcBef>
              <a:spcAft>
                <a:spcPts val="900"/>
              </a:spcAft>
              <a:buFont typeface="Symbol" panose="05050102010706020507" pitchFamily="18" charset="2"/>
              <a:buChar char=""/>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Method for determining, approving, and overriding service completions. </a:t>
            </a:r>
          </a:p>
        </p:txBody>
      </p:sp>
      <p:pic>
        <p:nvPicPr>
          <p:cNvPr id="4" name="Graphic 3" descr="Caret Left with solid fill">
            <a:hlinkClick r:id="" action="ppaction://hlinkshowjump?jump=previousslide"/>
            <a:extLst>
              <a:ext uri="{FF2B5EF4-FFF2-40B4-BE49-F238E27FC236}">
                <a16:creationId xmlns:a16="http://schemas.microsoft.com/office/drawing/2014/main" id="{9E551F25-E139-4290-BF99-7709624722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4CD8A121-D253-4442-A683-38DDD8FEC1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471548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43EA-0938-67EA-9C72-5DC566E96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1B2E8-652D-4C76-A624-D643803C6DD5}"/>
              </a:ext>
            </a:extLst>
          </p:cNvPr>
          <p:cNvSpPr>
            <a:spLocks noGrp="1"/>
          </p:cNvSpPr>
          <p:nvPr>
            <p:ph type="title"/>
          </p:nvPr>
        </p:nvSpPr>
        <p:spPr>
          <a:xfrm>
            <a:off x="608323" y="64220"/>
            <a:ext cx="8966998" cy="1320800"/>
          </a:xfrm>
        </p:spPr>
        <p:txBody>
          <a:bodyPr/>
          <a:lstStyle/>
          <a:p>
            <a:r>
              <a:rPr lang="en-US" b="1" dirty="0">
                <a:latin typeface="Arial" panose="020B0604020202020204" pitchFamily="34" charset="0"/>
                <a:cs typeface="Arial" panose="020B0604020202020204" pitchFamily="34" charset="0"/>
              </a:rPr>
              <a:t>Software Development Life Cycle</a:t>
            </a:r>
            <a:r>
              <a:rPr lang="en-US" b="1" dirty="0"/>
              <a:t> (SDLC)</a:t>
            </a:r>
            <a:br>
              <a:rPr lang="en-US" b="1" dirty="0"/>
            </a:br>
            <a:endParaRPr lang="en-US" b="1" dirty="0"/>
          </a:p>
        </p:txBody>
      </p:sp>
      <p:sp>
        <p:nvSpPr>
          <p:cNvPr id="7" name="TextBox 6">
            <a:extLst>
              <a:ext uri="{FF2B5EF4-FFF2-40B4-BE49-F238E27FC236}">
                <a16:creationId xmlns:a16="http://schemas.microsoft.com/office/drawing/2014/main" id="{278C7356-4CC0-9216-A939-BC0157C82B24}"/>
              </a:ext>
            </a:extLst>
          </p:cNvPr>
          <p:cNvSpPr txBox="1"/>
          <p:nvPr/>
        </p:nvSpPr>
        <p:spPr>
          <a:xfrm>
            <a:off x="325728" y="617785"/>
            <a:ext cx="9842739" cy="2392643"/>
          </a:xfrm>
          <a:prstGeom prst="rect">
            <a:avLst/>
          </a:prstGeom>
          <a:noFill/>
        </p:spPr>
        <p:txBody>
          <a:bodyPr wrap="square">
            <a:spAutoFit/>
          </a:bodyPr>
          <a:lstStyle/>
          <a:p>
            <a:pPr>
              <a:spcBef>
                <a:spcPts val="3000"/>
              </a:spcBef>
              <a:spcAft>
                <a:spcPts val="1200"/>
              </a:spcAft>
            </a:pPr>
            <a:r>
              <a:rPr lang="en-US" sz="1600" b="1" dirty="0">
                <a:solidFill>
                  <a:schemeClr val="accent1"/>
                </a:solidFill>
                <a:latin typeface="Arial" panose="020B0604020202020204" pitchFamily="34" charset="0"/>
                <a:ea typeface="+mj-ea"/>
                <a:cs typeface="Arial" panose="020B0604020202020204" pitchFamily="34" charset="0"/>
              </a:rPr>
              <a:t>SDLC </a:t>
            </a:r>
          </a:p>
          <a:p>
            <a:pPr marL="342900" marR="0" lvl="0" indent="-342900">
              <a:lnSpc>
                <a:spcPct val="120000"/>
              </a:lnSpc>
              <a:spcBef>
                <a:spcPts val="0"/>
              </a:spcBef>
              <a:spcAft>
                <a:spcPts val="0"/>
              </a:spcAft>
              <a:buFont typeface="Symbol" panose="05050102010706020507" pitchFamily="18" charset="2"/>
              <a:buChar char=""/>
            </a:pPr>
            <a:r>
              <a:rPr lang="en-US" sz="1200" dirty="0">
                <a:solidFill>
                  <a:srgbClr val="404040"/>
                </a:solidFill>
                <a:latin typeface="Arial" panose="020B0604020202020204" pitchFamily="34" charset="0"/>
                <a:cs typeface="Times New Roman" panose="02020603050405020304" pitchFamily="18" charset="0"/>
              </a:rPr>
              <a:t>SDLC is the overall process of planning, developing, testing, deploying, and maintaining software. Different artifacts or documents are created during SDLC phases to ensure quality, clarity, and alignment with requirements.</a:t>
            </a:r>
          </a:p>
          <a:p>
            <a:pPr marL="342900" marR="0" lvl="0" indent="-342900">
              <a:lnSpc>
                <a:spcPct val="120000"/>
              </a:lnSpc>
              <a:spcBef>
                <a:spcPts val="0"/>
              </a:spcBef>
              <a:spcAft>
                <a:spcPts val="0"/>
              </a:spcAft>
              <a:buFont typeface="Symbol" panose="05050102010706020507" pitchFamily="18" charset="2"/>
              <a:buChar char=""/>
            </a:pPr>
            <a:endPar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pPr>
            <a:r>
              <a:rPr lang="en-US" sz="1600" b="1" dirty="0">
                <a:solidFill>
                  <a:schemeClr val="accent1"/>
                </a:solidFill>
                <a:latin typeface="Arial" panose="020B0604020202020204" pitchFamily="34" charset="0"/>
                <a:ea typeface="+mj-ea"/>
                <a:cs typeface="Arial" panose="020B0604020202020204" pitchFamily="34" charset="0"/>
              </a:rPr>
              <a:t>Artifacts</a:t>
            </a:r>
          </a:p>
          <a:p>
            <a:pPr>
              <a:lnSpc>
                <a:spcPct val="120000"/>
              </a:lnSpc>
            </a:pPr>
            <a:endParaRPr lang="en-US" sz="1600" b="1" dirty="0">
              <a:solidFill>
                <a:schemeClr val="accent1"/>
              </a:solidFill>
              <a:latin typeface="Arial" panose="020B0604020202020204" pitchFamily="34" charset="0"/>
              <a:ea typeface="+mj-ea"/>
              <a:cs typeface="Arial" panose="020B0604020202020204" pitchFamily="34" charset="0"/>
            </a:endParaRPr>
          </a:p>
          <a:p>
            <a:pPr marL="342900" indent="-342900">
              <a:lnSpc>
                <a:spcPct val="120000"/>
              </a:lnSpc>
              <a:buFont typeface="Symbol" panose="05050102010706020507" pitchFamily="18" charset="2"/>
              <a:buChar char=""/>
            </a:pPr>
            <a:r>
              <a:rPr lang="en-US" sz="1200" dirty="0">
                <a:solidFill>
                  <a:srgbClr val="404040"/>
                </a:solidFill>
                <a:latin typeface="Arial" panose="020B0604020202020204" pitchFamily="34" charset="0"/>
                <a:cs typeface="Times New Roman" panose="02020603050405020304" pitchFamily="18" charset="0"/>
              </a:rPr>
              <a:t>In layman’s terms SDLC artifacts are planning and other technical documents.  However, the time an effort that goes into creating, maintain and proper disposition of these documents gain them the term artifacts or works of art.  Due to time constraints and the fictionality of this project, the graphic below depicts my preferred employment of each SDLC artifact. </a:t>
            </a:r>
          </a:p>
        </p:txBody>
      </p:sp>
      <p:pic>
        <p:nvPicPr>
          <p:cNvPr id="4" name="Graphic 3" descr="Caret Left with solid fill">
            <a:hlinkClick r:id="" action="ppaction://hlinkshowjump?jump=previousslide"/>
            <a:extLst>
              <a:ext uri="{FF2B5EF4-FFF2-40B4-BE49-F238E27FC236}">
                <a16:creationId xmlns:a16="http://schemas.microsoft.com/office/drawing/2014/main" id="{3F1F1C6C-8319-1D27-747B-52E7FE53C0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E835E321-3808-D902-27F9-4370BBBF86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77600" y="5943600"/>
            <a:ext cx="914400" cy="914400"/>
          </a:xfrm>
          <a:prstGeom prst="rect">
            <a:avLst/>
          </a:prstGeom>
        </p:spPr>
      </p:pic>
      <p:pic>
        <p:nvPicPr>
          <p:cNvPr id="2050" name="Picture 2" descr="Generated image">
            <a:extLst>
              <a:ext uri="{FF2B5EF4-FFF2-40B4-BE49-F238E27FC236}">
                <a16:creationId xmlns:a16="http://schemas.microsoft.com/office/drawing/2014/main" id="{6D454D5A-639C-F61F-48B2-1ABD28183B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2290" y="3429000"/>
            <a:ext cx="6949440" cy="284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343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446887"/>
          </a:xfrm>
        </p:spPr>
        <p:txBody>
          <a:bodyPr vert="horz" lIns="91440" tIns="45720" rIns="91440" bIns="45720" rtlCol="0" anchor="t">
            <a:normAutofit/>
          </a:bodyPr>
          <a:lstStyle/>
          <a:p>
            <a:r>
              <a:rPr lang="en-US" b="1" kern="1200" dirty="0">
                <a:latin typeface="+mj-lt"/>
                <a:ea typeface="+mj-ea"/>
                <a:cs typeface="+mj-cs"/>
                <a:hlinkClick r:id="rId2"/>
              </a:rPr>
              <a:t>Project Management</a:t>
            </a:r>
            <a:br>
              <a:rPr lang="en-US" b="1" kern="1200" dirty="0">
                <a:latin typeface="+mj-lt"/>
                <a:ea typeface="+mj-ea"/>
                <a:cs typeface="+mj-cs"/>
              </a:rPr>
            </a:br>
            <a:endParaRPr lang="en-US" b="1" kern="1200" dirty="0">
              <a:solidFill>
                <a:schemeClr val="accent1"/>
              </a:solidFill>
              <a:latin typeface="+mj-lt"/>
              <a:ea typeface="+mj-ea"/>
              <a:cs typeface="+mj-cs"/>
            </a:endParaRPr>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7600" y="5943600"/>
            <a:ext cx="914400" cy="914400"/>
          </a:xfrm>
          <a:prstGeom prst="rect">
            <a:avLst/>
          </a:prstGeom>
        </p:spPr>
      </p:pic>
      <p:pic>
        <p:nvPicPr>
          <p:cNvPr id="6" name="Picture 5">
            <a:extLst>
              <a:ext uri="{FF2B5EF4-FFF2-40B4-BE49-F238E27FC236}">
                <a16:creationId xmlns:a16="http://schemas.microsoft.com/office/drawing/2014/main" id="{C8EDD289-0AD9-4D66-A1D4-F0FB3AD7B873}"/>
              </a:ext>
            </a:extLst>
          </p:cNvPr>
          <p:cNvPicPr>
            <a:picLocks noChangeAspect="1"/>
          </p:cNvPicPr>
          <p:nvPr/>
        </p:nvPicPr>
        <p:blipFill>
          <a:blip r:embed="rId9"/>
          <a:stretch>
            <a:fillRect/>
          </a:stretch>
        </p:blipFill>
        <p:spPr>
          <a:xfrm>
            <a:off x="907189" y="2183788"/>
            <a:ext cx="8154956" cy="4046338"/>
          </a:xfrm>
          <a:prstGeom prst="rect">
            <a:avLst/>
          </a:prstGeom>
        </p:spPr>
      </p:pic>
    </p:spTree>
    <p:extLst>
      <p:ext uri="{BB962C8B-B14F-4D97-AF65-F5344CB8AC3E}">
        <p14:creationId xmlns:p14="http://schemas.microsoft.com/office/powerpoint/2010/main" val="3933709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r>
              <a:rPr lang="en-US" b="1" kern="1200" dirty="0">
                <a:latin typeface="+mj-lt"/>
                <a:ea typeface="+mj-ea"/>
                <a:cs typeface="+mj-cs"/>
                <a:hlinkClick r:id="rId2">
                  <a:extLst>
                    <a:ext uri="{A12FA001-AC4F-418D-AE19-62706E023703}">
                      <ahyp:hlinkClr xmlns:ahyp="http://schemas.microsoft.com/office/drawing/2018/hyperlinkcolor" val="tx"/>
                    </a:ext>
                  </a:extLst>
                </a:hlinkClick>
              </a:rPr>
              <a:t>Progress Report</a:t>
            </a:r>
            <a:endParaRPr lang="en-US" b="1" kern="1200" dirty="0">
              <a:solidFill>
                <a:schemeClr val="accent1"/>
              </a:solidFill>
              <a:latin typeface="+mj-lt"/>
              <a:ea typeface="+mj-ea"/>
              <a:cs typeface="+mj-cs"/>
            </a:endParaRP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7600" y="5943600"/>
            <a:ext cx="914400" cy="914400"/>
          </a:xfrm>
          <a:prstGeom prst="rect">
            <a:avLst/>
          </a:prstGeom>
        </p:spPr>
      </p:pic>
      <p:graphicFrame>
        <p:nvGraphicFramePr>
          <p:cNvPr id="10" name="Table 9">
            <a:extLst>
              <a:ext uri="{FF2B5EF4-FFF2-40B4-BE49-F238E27FC236}">
                <a16:creationId xmlns:a16="http://schemas.microsoft.com/office/drawing/2014/main" id="{B110ACAF-EF0A-4DC2-AD97-A6EE79506BE7}"/>
              </a:ext>
            </a:extLst>
          </p:cNvPr>
          <p:cNvGraphicFramePr>
            <a:graphicFrameLocks noGrp="1"/>
          </p:cNvGraphicFramePr>
          <p:nvPr>
            <p:extLst>
              <p:ext uri="{D42A27DB-BD31-4B8C-83A1-F6EECF244321}">
                <p14:modId xmlns:p14="http://schemas.microsoft.com/office/powerpoint/2010/main" val="3177022998"/>
              </p:ext>
            </p:extLst>
          </p:nvPr>
        </p:nvGraphicFramePr>
        <p:xfrm>
          <a:off x="635000" y="2059214"/>
          <a:ext cx="8824640" cy="3204723"/>
        </p:xfrm>
        <a:graphic>
          <a:graphicData uri="http://schemas.openxmlformats.org/drawingml/2006/table">
            <a:tbl>
              <a:tblPr firstRow="1" bandRow="1">
                <a:tableStyleId>{5C22544A-7EE6-4342-B048-85BDC9FD1C3A}</a:tableStyleId>
              </a:tblPr>
              <a:tblGrid>
                <a:gridCol w="2340427">
                  <a:extLst>
                    <a:ext uri="{9D8B030D-6E8A-4147-A177-3AD203B41FA5}">
                      <a16:colId xmlns:a16="http://schemas.microsoft.com/office/drawing/2014/main" val="550190885"/>
                    </a:ext>
                  </a:extLst>
                </a:gridCol>
                <a:gridCol w="879928">
                  <a:extLst>
                    <a:ext uri="{9D8B030D-6E8A-4147-A177-3AD203B41FA5}">
                      <a16:colId xmlns:a16="http://schemas.microsoft.com/office/drawing/2014/main" val="2855629458"/>
                    </a:ext>
                  </a:extLst>
                </a:gridCol>
                <a:gridCol w="780442">
                  <a:extLst>
                    <a:ext uri="{9D8B030D-6E8A-4147-A177-3AD203B41FA5}">
                      <a16:colId xmlns:a16="http://schemas.microsoft.com/office/drawing/2014/main" val="2593342024"/>
                    </a:ext>
                  </a:extLst>
                </a:gridCol>
                <a:gridCol w="781048">
                  <a:extLst>
                    <a:ext uri="{9D8B030D-6E8A-4147-A177-3AD203B41FA5}">
                      <a16:colId xmlns:a16="http://schemas.microsoft.com/office/drawing/2014/main" val="711650463"/>
                    </a:ext>
                  </a:extLst>
                </a:gridCol>
                <a:gridCol w="743855">
                  <a:extLst>
                    <a:ext uri="{9D8B030D-6E8A-4147-A177-3AD203B41FA5}">
                      <a16:colId xmlns:a16="http://schemas.microsoft.com/office/drawing/2014/main" val="1143749528"/>
                    </a:ext>
                  </a:extLst>
                </a:gridCol>
                <a:gridCol w="3298940">
                  <a:extLst>
                    <a:ext uri="{9D8B030D-6E8A-4147-A177-3AD203B41FA5}">
                      <a16:colId xmlns:a16="http://schemas.microsoft.com/office/drawing/2014/main" val="1208551235"/>
                    </a:ext>
                  </a:extLst>
                </a:gridCol>
              </a:tblGrid>
              <a:tr h="623628">
                <a:tc>
                  <a:txBody>
                    <a:bodyPr/>
                    <a:lstStyle/>
                    <a:p>
                      <a:pPr fontAlgn="b"/>
                      <a:r>
                        <a:rPr lang="en-US" sz="1400" dirty="0">
                          <a:effectLst/>
                        </a:rPr>
                        <a:t>Description</a:t>
                      </a:r>
                      <a:endParaRPr lang="en-US" sz="1400" b="1">
                        <a:solidFill>
                          <a:srgbClr val="FFFFFF"/>
                        </a:solidFill>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ctr" fontAlgn="b"/>
                      <a:r>
                        <a:rPr lang="en-US" sz="1400" dirty="0">
                          <a:effectLst/>
                        </a:rPr>
                        <a:t>Start Date</a:t>
                      </a:r>
                      <a:endParaRPr lang="en-US" sz="1400" b="1">
                        <a:solidFill>
                          <a:srgbClr val="FFFFFF"/>
                        </a:solidFill>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ctr" fontAlgn="b"/>
                      <a:r>
                        <a:rPr lang="en-US" sz="1400" dirty="0">
                          <a:effectLst/>
                        </a:rPr>
                        <a:t>End Date</a:t>
                      </a:r>
                      <a:endParaRPr lang="en-US" sz="1400" b="1">
                        <a:solidFill>
                          <a:srgbClr val="FFFFFF"/>
                        </a:solidFill>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ctr" fontAlgn="b"/>
                      <a:r>
                        <a:rPr lang="en-US" sz="1400" dirty="0">
                          <a:effectLst/>
                        </a:rPr>
                        <a:t>Duration</a:t>
                      </a:r>
                      <a:endParaRPr lang="en-US" sz="1400" b="1">
                        <a:solidFill>
                          <a:srgbClr val="FFFFFF"/>
                        </a:solidFill>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ctr" fontAlgn="b"/>
                      <a:r>
                        <a:rPr lang="en-US" sz="1400" dirty="0">
                          <a:effectLst/>
                        </a:rPr>
                        <a:t>Comp %</a:t>
                      </a:r>
                      <a:endParaRPr lang="en-US" sz="1400" b="1" dirty="0">
                        <a:solidFill>
                          <a:srgbClr val="FFFFFF"/>
                        </a:solidFill>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tcPr>
                </a:tc>
                <a:tc>
                  <a:txBody>
                    <a:bodyPr/>
                    <a:lstStyle/>
                    <a:p>
                      <a:pPr algn="ctr" fontAlgn="b"/>
                      <a:r>
                        <a:rPr lang="en-US" sz="1400" dirty="0">
                          <a:effectLst/>
                        </a:rPr>
                        <a:t>KLO</a:t>
                      </a:r>
                      <a:endParaRPr lang="en-US" sz="1400" b="1">
                        <a:solidFill>
                          <a:srgbClr val="FFFFFF"/>
                        </a:solidFill>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tcPr>
                </a:tc>
                <a:extLst>
                  <a:ext uri="{0D108BD9-81ED-4DB2-BD59-A6C34878D82A}">
                    <a16:rowId xmlns:a16="http://schemas.microsoft.com/office/drawing/2014/main" val="2838297325"/>
                  </a:ext>
                </a:extLst>
              </a:tr>
              <a:tr h="351499">
                <a:tc>
                  <a:txBody>
                    <a:bodyPr/>
                    <a:lstStyle/>
                    <a:p>
                      <a:pPr fontAlgn="b"/>
                      <a:r>
                        <a:rPr lang="en-US" sz="1300" dirty="0">
                          <a:effectLst/>
                        </a:rPr>
                        <a:t>Project Start  - TIPA Capstone</a:t>
                      </a:r>
                      <a:endParaRPr lang="en-US" sz="130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algn="ctr" fontAlgn="b"/>
                      <a:r>
                        <a:rPr lang="en-US" sz="1200" dirty="0">
                          <a:effectLst/>
                        </a:rPr>
                        <a:t>1/13/2022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algn="ctr" fontAlgn="b"/>
                      <a:r>
                        <a:rPr lang="en-US" sz="1200" dirty="0">
                          <a:effectLst/>
                        </a:rPr>
                        <a:t>3/10/2022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algn="ctr" fontAlgn="b"/>
                      <a:r>
                        <a:rPr lang="en-US" sz="1200" dirty="0">
                          <a:effectLst/>
                        </a:rPr>
                        <a:t>56</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algn="ctr" fontAlgn="b"/>
                      <a:r>
                        <a:rPr lang="en-US" sz="1200" b="1" dirty="0">
                          <a:solidFill>
                            <a:schemeClr val="accent2">
                              <a:lumMod val="50000"/>
                            </a:schemeClr>
                          </a:solidFill>
                          <a:effectLst/>
                          <a:latin typeface="Calibri"/>
                        </a:rPr>
                        <a:t>100%</a:t>
                      </a: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fontAlgn="b"/>
                      <a:r>
                        <a:rPr lang="en-US" sz="1200" dirty="0">
                          <a:effectLst/>
                        </a:rPr>
                        <a:t>Data Science Immersive</a:t>
                      </a:r>
                      <a:endParaRPr lang="en-US" sz="1200" dirty="0">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extLst>
                  <a:ext uri="{0D108BD9-81ED-4DB2-BD59-A6C34878D82A}">
                    <a16:rowId xmlns:a16="http://schemas.microsoft.com/office/drawing/2014/main" val="219199287"/>
                  </a:ext>
                </a:extLst>
              </a:tr>
              <a:tr h="362838">
                <a:tc>
                  <a:txBody>
                    <a:bodyPr/>
                    <a:lstStyle/>
                    <a:p>
                      <a:pPr fontAlgn="b"/>
                      <a:r>
                        <a:rPr lang="en-US" sz="1300" dirty="0">
                          <a:effectLst/>
                        </a:rPr>
                        <a:t>Phase 1 - Technical Feasibility Assessment</a:t>
                      </a:r>
                      <a:endParaRPr lang="en-US" sz="130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1/13/2022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2/4/2022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marL="0" algn="ctr" defTabSz="457200" rtl="0" eaLnBrk="1" fontAlgn="b" latinLnBrk="0" hangingPunct="1"/>
                      <a:r>
                        <a:rPr lang="en-US" sz="1200" b="1" kern="1200" dirty="0">
                          <a:solidFill>
                            <a:schemeClr val="accent2">
                              <a:lumMod val="50000"/>
                            </a:schemeClr>
                          </a:solidFill>
                          <a:effectLst/>
                          <a:latin typeface="Calibri"/>
                          <a:ea typeface="+mn-ea"/>
                          <a:cs typeface="+mn-cs"/>
                        </a:rPr>
                        <a:t>100%</a:t>
                      </a: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fontAlgn="b"/>
                      <a:r>
                        <a:rPr lang="en-US" sz="1200" dirty="0">
                          <a:effectLst/>
                        </a:rPr>
                        <a:t>SQL, </a:t>
                      </a:r>
                      <a:r>
                        <a:rPr lang="en-US" sz="1200" dirty="0" err="1">
                          <a:effectLst/>
                        </a:rPr>
                        <a:t>DataVerse</a:t>
                      </a:r>
                      <a:r>
                        <a:rPr lang="en-US" sz="1200" dirty="0">
                          <a:effectLst/>
                        </a:rPr>
                        <a:t>, Excel, MS Azure, SSMS</a:t>
                      </a:r>
                      <a:endParaRPr lang="en-US" sz="1200" dirty="0">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extLst>
                  <a:ext uri="{0D108BD9-81ED-4DB2-BD59-A6C34878D82A}">
                    <a16:rowId xmlns:a16="http://schemas.microsoft.com/office/drawing/2014/main" val="2337822638"/>
                  </a:ext>
                </a:extLst>
              </a:tr>
              <a:tr h="623628">
                <a:tc>
                  <a:txBody>
                    <a:bodyPr/>
                    <a:lstStyle/>
                    <a:p>
                      <a:pPr fontAlgn="b"/>
                      <a:r>
                        <a:rPr lang="en-US" sz="1300" dirty="0">
                          <a:effectLst/>
                        </a:rPr>
                        <a:t>Phase 2 - Data Engineering</a:t>
                      </a:r>
                      <a:endParaRPr lang="en-US" sz="130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1/17/2022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1/28/2022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11</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marL="0" algn="ctr" defTabSz="457200" rtl="0" eaLnBrk="1" fontAlgn="b" latinLnBrk="0" hangingPunct="1"/>
                      <a:r>
                        <a:rPr lang="en-US" sz="1200" b="1" kern="1200" dirty="0">
                          <a:solidFill>
                            <a:schemeClr val="accent2">
                              <a:lumMod val="50000"/>
                            </a:schemeClr>
                          </a:solidFill>
                          <a:effectLst/>
                          <a:latin typeface="Calibri"/>
                          <a:ea typeface="+mn-ea"/>
                          <a:cs typeface="+mn-cs"/>
                        </a:rPr>
                        <a:t>100%</a:t>
                      </a: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fontAlgn="b"/>
                      <a:r>
                        <a:rPr lang="en-US" sz="1200" dirty="0">
                          <a:effectLst/>
                        </a:rPr>
                        <a:t>PowerApps, Power Automate, ADF, SQL, </a:t>
                      </a:r>
                      <a:r>
                        <a:rPr lang="en-US" sz="1200" dirty="0" err="1">
                          <a:effectLst/>
                        </a:rPr>
                        <a:t>DataVerse</a:t>
                      </a:r>
                      <a:r>
                        <a:rPr lang="en-US" sz="1200" dirty="0">
                          <a:effectLst/>
                        </a:rPr>
                        <a:t>, Excel, SSMS</a:t>
                      </a:r>
                      <a:endParaRPr lang="en-US" sz="1200" dirty="0">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extLst>
                  <a:ext uri="{0D108BD9-81ED-4DB2-BD59-A6C34878D82A}">
                    <a16:rowId xmlns:a16="http://schemas.microsoft.com/office/drawing/2014/main" val="224927432"/>
                  </a:ext>
                </a:extLst>
              </a:tr>
              <a:tr h="351499">
                <a:tc>
                  <a:txBody>
                    <a:bodyPr/>
                    <a:lstStyle/>
                    <a:p>
                      <a:pPr fontAlgn="b"/>
                      <a:r>
                        <a:rPr lang="en-US" sz="1300" dirty="0">
                          <a:effectLst/>
                        </a:rPr>
                        <a:t>Phase 3 - Data Analytics</a:t>
                      </a:r>
                      <a:endParaRPr lang="en-US" sz="130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1/28/2022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2/7/2022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algn="ctr" fontAlgn="b"/>
                      <a:r>
                        <a:rPr lang="en-US" sz="1200" dirty="0">
                          <a:effectLst/>
                        </a:rPr>
                        <a:t>10</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marL="0" algn="ctr" defTabSz="457200" rtl="0" eaLnBrk="1" fontAlgn="b" latinLnBrk="0" hangingPunct="1"/>
                      <a:r>
                        <a:rPr lang="en-US" sz="1200" b="1" kern="1200" dirty="0">
                          <a:solidFill>
                            <a:schemeClr val="accent2">
                              <a:lumMod val="50000"/>
                            </a:schemeClr>
                          </a:solidFill>
                          <a:effectLst/>
                          <a:latin typeface="Calibri"/>
                          <a:ea typeface="+mn-ea"/>
                          <a:cs typeface="+mn-cs"/>
                        </a:rPr>
                        <a:t>100%</a:t>
                      </a: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tc>
                  <a:txBody>
                    <a:bodyPr/>
                    <a:lstStyle/>
                    <a:p>
                      <a:pPr fontAlgn="b"/>
                      <a:r>
                        <a:rPr lang="en-US" sz="1200" dirty="0" err="1">
                          <a:effectLst/>
                        </a:rPr>
                        <a:t>PowerBi</a:t>
                      </a:r>
                      <a:r>
                        <a:rPr lang="en-US" sz="1200" dirty="0">
                          <a:effectLst/>
                        </a:rPr>
                        <a:t>, PowerApps, SQL</a:t>
                      </a:r>
                      <a:endParaRPr lang="en-US" sz="1200" dirty="0">
                        <a:effectLst/>
                        <a:latin typeface="Calibri"/>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chemeClr val="bg1"/>
                    </a:solidFill>
                  </a:tcPr>
                </a:tc>
                <a:extLst>
                  <a:ext uri="{0D108BD9-81ED-4DB2-BD59-A6C34878D82A}">
                    <a16:rowId xmlns:a16="http://schemas.microsoft.com/office/drawing/2014/main" val="3954541828"/>
                  </a:ext>
                </a:extLst>
              </a:tr>
              <a:tr h="340160">
                <a:tc>
                  <a:txBody>
                    <a:bodyPr/>
                    <a:lstStyle/>
                    <a:p>
                      <a:pPr fontAlgn="b"/>
                      <a:r>
                        <a:rPr lang="en-US" sz="1300" dirty="0">
                          <a:effectLst/>
                        </a:rPr>
                        <a:t>Phase 5 - Application Development</a:t>
                      </a:r>
                      <a:endParaRPr lang="en-US" sz="1300" dirty="0">
                        <a:solidFill>
                          <a:srgbClr val="404040"/>
                        </a:solidFill>
                        <a:effectLst/>
                        <a:latin typeface="Arial"/>
                      </a:endParaRPr>
                    </a:p>
                  </a:txBody>
                  <a:tcPr marL="9525" marR="9525" marT="9525" anchor="b">
                    <a:lnL w="12700">
                      <a:solidFill>
                        <a:schemeClr val="accent1"/>
                      </a:solid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a:solidFill>
                        <a:schemeClr val="accent1"/>
                      </a:solidFill>
                    </a:lnB>
                    <a:solidFill>
                      <a:srgbClr val="FFFF00"/>
                    </a:solidFill>
                  </a:tcPr>
                </a:tc>
                <a:tc>
                  <a:txBody>
                    <a:bodyPr/>
                    <a:lstStyle/>
                    <a:p>
                      <a:pPr algn="ctr" fontAlgn="b"/>
                      <a:r>
                        <a:rPr lang="en-US" sz="1200" dirty="0">
                          <a:effectLst/>
                        </a:rPr>
                        <a:t>1/13/2022</a:t>
                      </a:r>
                      <a:endParaRPr lang="en-US" sz="1200" dirty="0">
                        <a:solidFill>
                          <a:srgbClr val="404040"/>
                        </a:solidFill>
                        <a:effectLst/>
                        <a:latin typeface="Arial"/>
                      </a:endParaRPr>
                    </a:p>
                  </a:txBody>
                  <a:tcPr marL="9525" marR="9525" marT="9525"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a:solidFill>
                        <a:schemeClr val="accent1"/>
                      </a:solidFill>
                    </a:lnB>
                    <a:solidFill>
                      <a:srgbClr val="FFFF00"/>
                    </a:solidFill>
                  </a:tcPr>
                </a:tc>
                <a:tc>
                  <a:txBody>
                    <a:bodyPr/>
                    <a:lstStyle/>
                    <a:p>
                      <a:pPr algn="ctr" fontAlgn="b"/>
                      <a:r>
                        <a:rPr lang="en-US" sz="1200" dirty="0">
                          <a:effectLst/>
                        </a:rPr>
                        <a:t>2/24/2022</a:t>
                      </a:r>
                      <a:endParaRPr lang="en-US" sz="1200" dirty="0">
                        <a:solidFill>
                          <a:srgbClr val="404040"/>
                        </a:solidFill>
                        <a:effectLst/>
                        <a:latin typeface="Arial"/>
                      </a:endParaRPr>
                    </a:p>
                  </a:txBody>
                  <a:tcPr marL="9525" marR="9525" marT="9525"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a:solidFill>
                        <a:schemeClr val="accent1"/>
                      </a:solidFill>
                    </a:lnB>
                    <a:solidFill>
                      <a:srgbClr val="FFFF00"/>
                    </a:solidFill>
                  </a:tcPr>
                </a:tc>
                <a:tc>
                  <a:txBody>
                    <a:bodyPr/>
                    <a:lstStyle/>
                    <a:p>
                      <a:pPr algn="ctr" fontAlgn="b"/>
                      <a:r>
                        <a:rPr lang="en-US" sz="1200" dirty="0">
                          <a:effectLst/>
                        </a:rPr>
                        <a:t>42</a:t>
                      </a:r>
                      <a:endParaRPr lang="en-US" sz="1200" dirty="0">
                        <a:solidFill>
                          <a:srgbClr val="404040"/>
                        </a:solidFill>
                        <a:effectLst/>
                        <a:latin typeface="Arial"/>
                      </a:endParaRPr>
                    </a:p>
                  </a:txBody>
                  <a:tcPr marL="9525" marR="9525" marT="9525"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a:solidFill>
                        <a:schemeClr val="accent1"/>
                      </a:solidFill>
                    </a:lnB>
                    <a:solidFill>
                      <a:srgbClr val="FFFF00"/>
                    </a:solidFill>
                  </a:tcPr>
                </a:tc>
                <a:tc>
                  <a:txBody>
                    <a:bodyPr/>
                    <a:lstStyle/>
                    <a:p>
                      <a:pPr marL="0" algn="ctr" defTabSz="457200" rtl="0" eaLnBrk="1" fontAlgn="b" latinLnBrk="0" hangingPunct="1"/>
                      <a:r>
                        <a:rPr lang="en-US" sz="1200" b="1" kern="1200" dirty="0">
                          <a:solidFill>
                            <a:schemeClr val="accent2">
                              <a:lumMod val="50000"/>
                            </a:schemeClr>
                          </a:solidFill>
                          <a:effectLst/>
                          <a:latin typeface="Calibri"/>
                          <a:ea typeface="+mn-ea"/>
                          <a:cs typeface="+mn-cs"/>
                        </a:rPr>
                        <a:t>100%</a:t>
                      </a:r>
                    </a:p>
                  </a:txBody>
                  <a:tcPr marL="9525" marR="9525" marT="9525"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a:solidFill>
                        <a:schemeClr val="accent1"/>
                      </a:solidFill>
                    </a:lnB>
                    <a:solidFill>
                      <a:srgbClr val="FFFF00"/>
                    </a:solidFill>
                  </a:tcPr>
                </a:tc>
                <a:tc>
                  <a:txBody>
                    <a:bodyPr/>
                    <a:lstStyle/>
                    <a:p>
                      <a:pPr fontAlgn="b"/>
                      <a:r>
                        <a:rPr lang="en-US" sz="1200" b="1" dirty="0">
                          <a:effectLst/>
                          <a:latin typeface="Calibri"/>
                        </a:rPr>
                        <a:t>Power Portal/Portal Management/ Azure Active Directory</a:t>
                      </a:r>
                    </a:p>
                  </a:txBody>
                  <a:tcPr marL="9525" marR="9525" marT="9525" anchor="b">
                    <a:lnL w="12700" cap="flat" cmpd="sng" algn="ctr">
                      <a:solidFill>
                        <a:schemeClr val="accent1"/>
                      </a:solidFill>
                      <a:prstDash val="solid"/>
                      <a:round/>
                      <a:headEnd type="none" w="med" len="med"/>
                      <a:tailEnd type="none" w="med" len="med"/>
                    </a:lnL>
                    <a:lnR w="12700">
                      <a:solidFill>
                        <a:schemeClr val="accent1"/>
                      </a:solidFill>
                    </a:lnR>
                    <a:lnT w="12700" cap="flat" cmpd="sng" algn="ctr">
                      <a:solidFill>
                        <a:schemeClr val="accent1"/>
                      </a:solidFill>
                      <a:prstDash val="solid"/>
                      <a:round/>
                      <a:headEnd type="none" w="med" len="med"/>
                      <a:tailEnd type="none" w="med" len="med"/>
                    </a:lnT>
                    <a:lnB w="12700">
                      <a:solidFill>
                        <a:schemeClr val="accent1"/>
                      </a:solidFill>
                    </a:lnB>
                    <a:solidFill>
                      <a:srgbClr val="FFFF00"/>
                    </a:solidFill>
                  </a:tcPr>
                </a:tc>
                <a:extLst>
                  <a:ext uri="{0D108BD9-81ED-4DB2-BD59-A6C34878D82A}">
                    <a16:rowId xmlns:a16="http://schemas.microsoft.com/office/drawing/2014/main" val="1682911067"/>
                  </a:ext>
                </a:extLst>
              </a:tr>
              <a:tr h="351499">
                <a:tc>
                  <a:txBody>
                    <a:bodyPr/>
                    <a:lstStyle/>
                    <a:p>
                      <a:pPr fontAlgn="b"/>
                      <a:r>
                        <a:rPr lang="en-US" sz="1300" dirty="0">
                          <a:effectLst/>
                        </a:rPr>
                        <a:t>Phase 6 - Testing &amp; Acceptance</a:t>
                      </a:r>
                      <a:endParaRPr lang="en-US" sz="130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algn="ctr" fontAlgn="b"/>
                      <a:r>
                        <a:rPr lang="en-US" sz="1200" dirty="0">
                          <a:effectLst/>
                        </a:rPr>
                        <a:t>2/25/2022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algn="ctr" fontAlgn="b"/>
                      <a:r>
                        <a:rPr lang="en-US" sz="1200" dirty="0">
                          <a:effectLst/>
                        </a:rPr>
                        <a:t>3/10/2022</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algn="ctr" fontAlgn="b"/>
                      <a:r>
                        <a:rPr lang="en-US" sz="1200" dirty="0">
                          <a:effectLst/>
                        </a:rPr>
                        <a:t>13</a:t>
                      </a:r>
                      <a:endParaRPr lang="en-US" sz="1200" dirty="0">
                        <a:solidFill>
                          <a:srgbClr val="404040"/>
                        </a:solidFill>
                        <a:effectLst/>
                        <a:latin typeface="Arial"/>
                      </a:endParaRP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marL="0" algn="ctr" defTabSz="457200" rtl="0" eaLnBrk="1" fontAlgn="b" latinLnBrk="0" hangingPunct="1"/>
                      <a:r>
                        <a:rPr lang="en-US" sz="1200" b="1" kern="1200" dirty="0">
                          <a:solidFill>
                            <a:schemeClr val="accent2">
                              <a:lumMod val="50000"/>
                            </a:schemeClr>
                          </a:solidFill>
                          <a:effectLst/>
                          <a:latin typeface="Calibri"/>
                          <a:ea typeface="+mn-ea"/>
                          <a:cs typeface="+mn-cs"/>
                        </a:rPr>
                        <a:t>100%</a:t>
                      </a: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tc>
                  <a:txBody>
                    <a:bodyPr/>
                    <a:lstStyle/>
                    <a:p>
                      <a:pPr fontAlgn="b"/>
                      <a:r>
                        <a:rPr lang="en-US" sz="1200" b="1" dirty="0">
                          <a:effectLst/>
                          <a:latin typeface="Calibri"/>
                        </a:rPr>
                        <a:t>Functionality Testing of Invoices Generating</a:t>
                      </a:r>
                    </a:p>
                  </a:txBody>
                  <a:tcPr marL="9525" marR="9525" marT="9525" anchor="b">
                    <a:lnL w="12700">
                      <a:solidFill>
                        <a:schemeClr val="accent1"/>
                      </a:solidFill>
                    </a:lnL>
                    <a:lnR w="12700">
                      <a:solidFill>
                        <a:schemeClr val="accent1"/>
                      </a:solidFill>
                    </a:lnR>
                    <a:lnT w="12700">
                      <a:solidFill>
                        <a:schemeClr val="accent1"/>
                      </a:solidFill>
                    </a:lnT>
                    <a:lnB w="12700">
                      <a:solidFill>
                        <a:schemeClr val="accent1"/>
                      </a:solidFill>
                    </a:lnB>
                    <a:solidFill>
                      <a:srgbClr val="FFFF00"/>
                    </a:solidFill>
                  </a:tcPr>
                </a:tc>
                <a:extLst>
                  <a:ext uri="{0D108BD9-81ED-4DB2-BD59-A6C34878D82A}">
                    <a16:rowId xmlns:a16="http://schemas.microsoft.com/office/drawing/2014/main" val="1617656948"/>
                  </a:ext>
                </a:extLst>
              </a:tr>
            </a:tbl>
          </a:graphicData>
        </a:graphic>
      </p:graphicFrame>
    </p:spTree>
    <p:extLst>
      <p:ext uri="{BB962C8B-B14F-4D97-AF65-F5344CB8AC3E}">
        <p14:creationId xmlns:p14="http://schemas.microsoft.com/office/powerpoint/2010/main" val="1565522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Table&#10;&#10;Description automatically generated">
            <a:extLst>
              <a:ext uri="{FF2B5EF4-FFF2-40B4-BE49-F238E27FC236}">
                <a16:creationId xmlns:a16="http://schemas.microsoft.com/office/drawing/2014/main" id="{1391049A-BEDA-433B-A0ED-AFE2434AD2E3}"/>
              </a:ext>
            </a:extLst>
          </p:cNvPr>
          <p:cNvPicPr>
            <a:picLocks noChangeAspect="1"/>
          </p:cNvPicPr>
          <p:nvPr/>
        </p:nvPicPr>
        <p:blipFill>
          <a:blip r:embed="rId2"/>
          <a:stretch>
            <a:fillRect/>
          </a:stretch>
        </p:blipFill>
        <p:spPr>
          <a:xfrm>
            <a:off x="1258230" y="1674848"/>
            <a:ext cx="7680497" cy="4203438"/>
          </a:xfrm>
          <a:prstGeom prst="rect">
            <a:avLst/>
          </a:prstGeom>
        </p:spPr>
      </p:pic>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6226116" cy="1000303"/>
          </a:xfrm>
        </p:spPr>
        <p:txBody>
          <a:bodyPr vert="horz" lIns="91440" tIns="45720" rIns="91440" bIns="45720" rtlCol="0" anchor="t">
            <a:normAutofit fontScale="90000"/>
          </a:bodyPr>
          <a:lstStyle/>
          <a:p>
            <a:r>
              <a:rPr lang="en-US" b="1" dirty="0">
                <a:hlinkClick r:id="rId3"/>
              </a:rPr>
              <a:t>Azure Resource Administration</a:t>
            </a:r>
            <a:endParaRPr lang="en-US" b="1" dirty="0"/>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374681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fontScale="90000"/>
          </a:bodyPr>
          <a:lstStyle/>
          <a:p>
            <a:r>
              <a:rPr lang="en-US" b="1" dirty="0"/>
              <a:t>SQL DTL/ELT/ETL via SSMS</a:t>
            </a:r>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77600" y="5943600"/>
            <a:ext cx="914400" cy="914400"/>
          </a:xfrm>
          <a:prstGeom prst="rect">
            <a:avLst/>
          </a:prstGeom>
        </p:spPr>
      </p:pic>
      <p:pic>
        <p:nvPicPr>
          <p:cNvPr id="12" name="Picture 11">
            <a:extLst>
              <a:ext uri="{FF2B5EF4-FFF2-40B4-BE49-F238E27FC236}">
                <a16:creationId xmlns:a16="http://schemas.microsoft.com/office/drawing/2014/main" id="{7CBBB79C-5AC4-4063-8C9A-9EE03881A88C}"/>
              </a:ext>
            </a:extLst>
          </p:cNvPr>
          <p:cNvPicPr>
            <a:picLocks noChangeAspect="1"/>
          </p:cNvPicPr>
          <p:nvPr/>
        </p:nvPicPr>
        <p:blipFill>
          <a:blip r:embed="rId8"/>
          <a:stretch>
            <a:fillRect/>
          </a:stretch>
        </p:blipFill>
        <p:spPr>
          <a:xfrm>
            <a:off x="1110343" y="1688840"/>
            <a:ext cx="7333861" cy="4488025"/>
          </a:xfrm>
          <a:prstGeom prst="rect">
            <a:avLst/>
          </a:prstGeom>
        </p:spPr>
      </p:pic>
    </p:spTree>
    <p:extLst>
      <p:ext uri="{BB962C8B-B14F-4D97-AF65-F5344CB8AC3E}">
        <p14:creationId xmlns:p14="http://schemas.microsoft.com/office/powerpoint/2010/main" val="3752527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r>
              <a:rPr lang="en-US" b="1" dirty="0">
                <a:hlinkClick r:id="rId2"/>
              </a:rPr>
              <a:t>Database Design</a:t>
            </a:r>
            <a:endParaRPr lang="en-US" dirty="0">
              <a:ea typeface="+mj-ea"/>
              <a:cs typeface="+mj-cs"/>
            </a:endParaRP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77600" y="5943600"/>
            <a:ext cx="914400" cy="914400"/>
          </a:xfrm>
          <a:prstGeom prst="rect">
            <a:avLst/>
          </a:prstGeom>
        </p:spPr>
      </p:pic>
      <p:pic>
        <p:nvPicPr>
          <p:cNvPr id="3" name="Picture 5" descr="A picture containing text, indoor, screenshot&#10;&#10;Description automatically generated">
            <a:extLst>
              <a:ext uri="{FF2B5EF4-FFF2-40B4-BE49-F238E27FC236}">
                <a16:creationId xmlns:a16="http://schemas.microsoft.com/office/drawing/2014/main" id="{F251EEEE-2583-4A01-B428-66AEF05D4480}"/>
              </a:ext>
            </a:extLst>
          </p:cNvPr>
          <p:cNvPicPr>
            <a:picLocks noChangeAspect="1"/>
          </p:cNvPicPr>
          <p:nvPr/>
        </p:nvPicPr>
        <p:blipFill>
          <a:blip r:embed="rId7"/>
          <a:stretch>
            <a:fillRect/>
          </a:stretch>
        </p:blipFill>
        <p:spPr>
          <a:xfrm>
            <a:off x="1369743" y="1239072"/>
            <a:ext cx="7621856" cy="5494978"/>
          </a:xfrm>
          <a:prstGeom prst="rect">
            <a:avLst/>
          </a:prstGeom>
        </p:spPr>
      </p:pic>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7189" y="490773"/>
            <a:ext cx="1135863" cy="1126571"/>
          </a:xfrm>
          <a:prstGeom prst="rect">
            <a:avLst/>
          </a:prstGeom>
        </p:spPr>
      </p:pic>
    </p:spTree>
    <p:extLst>
      <p:ext uri="{BB962C8B-B14F-4D97-AF65-F5344CB8AC3E}">
        <p14:creationId xmlns:p14="http://schemas.microsoft.com/office/powerpoint/2010/main" val="3210252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196076" y="634428"/>
            <a:ext cx="7407366" cy="1000303"/>
          </a:xfrm>
        </p:spPr>
        <p:txBody>
          <a:bodyPr vert="horz" lIns="91440" tIns="45720" rIns="91440" bIns="45720" rtlCol="0" anchor="t">
            <a:normAutofit fontScale="90000"/>
          </a:bodyPr>
          <a:lstStyle/>
          <a:p>
            <a:r>
              <a:rPr lang="en-US" b="1" dirty="0"/>
              <a:t>M365 </a:t>
            </a:r>
            <a:r>
              <a:rPr lang="en-US" b="1" dirty="0" err="1"/>
              <a:t>DataVerse</a:t>
            </a:r>
            <a:r>
              <a:rPr lang="en-US" b="1" dirty="0"/>
              <a:t>/Dynamics Integration</a:t>
            </a: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77600" y="5943600"/>
            <a:ext cx="914400" cy="914400"/>
          </a:xfrm>
          <a:prstGeom prst="rect">
            <a:avLst/>
          </a:prstGeom>
        </p:spPr>
      </p:pic>
      <p:pic>
        <p:nvPicPr>
          <p:cNvPr id="7" name="Picture 6">
            <a:extLst>
              <a:ext uri="{FF2B5EF4-FFF2-40B4-BE49-F238E27FC236}">
                <a16:creationId xmlns:a16="http://schemas.microsoft.com/office/drawing/2014/main" id="{E7E0726F-C92F-408C-A11F-1B31197BF6E6}"/>
              </a:ext>
            </a:extLst>
          </p:cNvPr>
          <p:cNvPicPr>
            <a:picLocks noChangeAspect="1"/>
          </p:cNvPicPr>
          <p:nvPr/>
        </p:nvPicPr>
        <p:blipFill>
          <a:blip r:embed="rId8"/>
          <a:stretch>
            <a:fillRect/>
          </a:stretch>
        </p:blipFill>
        <p:spPr>
          <a:xfrm>
            <a:off x="1151115" y="1615128"/>
            <a:ext cx="7721843" cy="4328471"/>
          </a:xfrm>
          <a:prstGeom prst="rect">
            <a:avLst/>
          </a:prstGeom>
        </p:spPr>
      </p:pic>
    </p:spTree>
    <p:extLst>
      <p:ext uri="{BB962C8B-B14F-4D97-AF65-F5344CB8AC3E}">
        <p14:creationId xmlns:p14="http://schemas.microsoft.com/office/powerpoint/2010/main" val="388820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043052" y="614826"/>
            <a:ext cx="8593317" cy="1000303"/>
          </a:xfrm>
        </p:spPr>
        <p:txBody>
          <a:bodyPr vert="horz" lIns="91440" tIns="45720" rIns="91440" bIns="45720" rtlCol="0" anchor="t">
            <a:normAutofit fontScale="90000"/>
          </a:bodyPr>
          <a:lstStyle/>
          <a:p>
            <a:r>
              <a:rPr lang="en-US" b="1" dirty="0">
                <a:ea typeface="+mj-ea"/>
                <a:cs typeface="+mj-cs"/>
              </a:rPr>
              <a:t>Analytical Datasets – Power BI</a:t>
            </a:r>
            <a:br>
              <a:rPr lang="en-US" b="1" dirty="0">
                <a:ea typeface="+mj-ea"/>
                <a:cs typeface="+mj-cs"/>
              </a:rPr>
            </a:br>
            <a:r>
              <a:rPr lang="en-US" b="1" dirty="0">
                <a:ea typeface="+mj-ea"/>
                <a:cs typeface="+mj-cs"/>
              </a:rPr>
              <a:t>(Power Query/DAX)</a:t>
            </a:r>
            <a:endParaRPr lang="en-US" dirty="0">
              <a:ea typeface="+mj-ea"/>
              <a:cs typeface="+mj-cs"/>
            </a:endParaRPr>
          </a:p>
        </p:txBody>
      </p:sp>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77600" y="5943600"/>
            <a:ext cx="914400" cy="914400"/>
          </a:xfrm>
          <a:prstGeom prst="rect">
            <a:avLst/>
          </a:prstGeom>
        </p:spPr>
      </p:pic>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 y="488558"/>
            <a:ext cx="1135863" cy="1126571"/>
          </a:xfrm>
          <a:prstGeom prst="rect">
            <a:avLst/>
          </a:prstGeom>
        </p:spPr>
      </p:pic>
      <p:pic>
        <p:nvPicPr>
          <p:cNvPr id="7" name="Picture 6">
            <a:extLst>
              <a:ext uri="{FF2B5EF4-FFF2-40B4-BE49-F238E27FC236}">
                <a16:creationId xmlns:a16="http://schemas.microsoft.com/office/drawing/2014/main" id="{68B70862-40D0-4C82-954E-E1A7C103DB80}"/>
              </a:ext>
            </a:extLst>
          </p:cNvPr>
          <p:cNvPicPr>
            <a:picLocks noChangeAspect="1"/>
          </p:cNvPicPr>
          <p:nvPr/>
        </p:nvPicPr>
        <p:blipFill>
          <a:blip r:embed="rId8"/>
          <a:stretch>
            <a:fillRect/>
          </a:stretch>
        </p:blipFill>
        <p:spPr>
          <a:xfrm>
            <a:off x="1194318" y="1707502"/>
            <a:ext cx="7734842" cy="4236098"/>
          </a:xfrm>
          <a:prstGeom prst="rect">
            <a:avLst/>
          </a:prstGeom>
        </p:spPr>
      </p:pic>
    </p:spTree>
    <p:extLst>
      <p:ext uri="{BB962C8B-B14F-4D97-AF65-F5344CB8AC3E}">
        <p14:creationId xmlns:p14="http://schemas.microsoft.com/office/powerpoint/2010/main" val="3538399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6933482" cy="1000303"/>
          </a:xfrm>
        </p:spPr>
        <p:txBody>
          <a:bodyPr vert="horz" lIns="91440" tIns="45720" rIns="91440" bIns="45720" rtlCol="0" anchor="t">
            <a:normAutofit/>
          </a:bodyPr>
          <a:lstStyle/>
          <a:p>
            <a:r>
              <a:rPr lang="en-US" b="1" dirty="0"/>
              <a:t>Data Flows – Azure Data Factor</a:t>
            </a:r>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77600" y="5943600"/>
            <a:ext cx="914400" cy="914400"/>
          </a:xfrm>
          <a:prstGeom prst="rect">
            <a:avLst/>
          </a:prstGeom>
        </p:spPr>
      </p:pic>
      <p:pic>
        <p:nvPicPr>
          <p:cNvPr id="10" name="Picture 9">
            <a:extLst>
              <a:ext uri="{FF2B5EF4-FFF2-40B4-BE49-F238E27FC236}">
                <a16:creationId xmlns:a16="http://schemas.microsoft.com/office/drawing/2014/main" id="{F03BAAB2-A3FA-4F84-8FE4-E0C5879C0497}"/>
              </a:ext>
            </a:extLst>
          </p:cNvPr>
          <p:cNvPicPr>
            <a:picLocks noChangeAspect="1"/>
          </p:cNvPicPr>
          <p:nvPr/>
        </p:nvPicPr>
        <p:blipFill>
          <a:blip r:embed="rId8"/>
          <a:stretch>
            <a:fillRect/>
          </a:stretch>
        </p:blipFill>
        <p:spPr>
          <a:xfrm>
            <a:off x="1149469" y="1750889"/>
            <a:ext cx="7721844" cy="3627745"/>
          </a:xfrm>
          <a:prstGeom prst="rect">
            <a:avLst/>
          </a:prstGeom>
        </p:spPr>
      </p:pic>
    </p:spTree>
    <p:extLst>
      <p:ext uri="{BB962C8B-B14F-4D97-AF65-F5344CB8AC3E}">
        <p14:creationId xmlns:p14="http://schemas.microsoft.com/office/powerpoint/2010/main" val="4040974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6" descr="Graphical user interface, text, application, email&#10;&#10;Description automatically generated">
            <a:extLst>
              <a:ext uri="{FF2B5EF4-FFF2-40B4-BE49-F238E27FC236}">
                <a16:creationId xmlns:a16="http://schemas.microsoft.com/office/drawing/2014/main" id="{AED4A1F0-E732-4E5D-939A-C347E75A85E1}"/>
              </a:ext>
            </a:extLst>
          </p:cNvPr>
          <p:cNvPicPr>
            <a:picLocks noChangeAspect="1"/>
          </p:cNvPicPr>
          <p:nvPr/>
        </p:nvPicPr>
        <p:blipFill>
          <a:blip r:embed="rId2"/>
          <a:stretch>
            <a:fillRect/>
          </a:stretch>
        </p:blipFill>
        <p:spPr>
          <a:xfrm>
            <a:off x="1694985" y="3801029"/>
            <a:ext cx="7436005" cy="2526967"/>
          </a:xfrm>
          <a:prstGeom prst="rect">
            <a:avLst/>
          </a:prstGeom>
        </p:spPr>
      </p:pic>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6541425" cy="1000303"/>
          </a:xfrm>
        </p:spPr>
        <p:txBody>
          <a:bodyPr vert="horz" lIns="91440" tIns="45720" rIns="91440" bIns="45720" rtlCol="0" anchor="t">
            <a:normAutofit fontScale="90000"/>
          </a:bodyPr>
          <a:lstStyle/>
          <a:p>
            <a:r>
              <a:rPr lang="en-US" b="1" u="sng" dirty="0">
                <a:hlinkClick r:id="rId3"/>
              </a:rPr>
              <a:t>Automation</a:t>
            </a:r>
            <a:r>
              <a:rPr lang="en-US" b="1" u="sng" dirty="0"/>
              <a:t> – Power Automate</a:t>
            </a: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77600" y="5943600"/>
            <a:ext cx="914400" cy="914400"/>
          </a:xfrm>
          <a:prstGeom prst="rect">
            <a:avLst/>
          </a:prstGeom>
        </p:spPr>
      </p:pic>
      <p:pic>
        <p:nvPicPr>
          <p:cNvPr id="3" name="Picture 5" descr="Graphical user interface, application, Teams&#10;&#10;Description automatically generated">
            <a:extLst>
              <a:ext uri="{FF2B5EF4-FFF2-40B4-BE49-F238E27FC236}">
                <a16:creationId xmlns:a16="http://schemas.microsoft.com/office/drawing/2014/main" id="{3192D44C-4636-4704-ABDE-5FE2DBFE7585}"/>
              </a:ext>
            </a:extLst>
          </p:cNvPr>
          <p:cNvPicPr>
            <a:picLocks noChangeAspect="1"/>
          </p:cNvPicPr>
          <p:nvPr/>
        </p:nvPicPr>
        <p:blipFill>
          <a:blip r:embed="rId10"/>
          <a:stretch>
            <a:fillRect/>
          </a:stretch>
        </p:blipFill>
        <p:spPr>
          <a:xfrm>
            <a:off x="1694986" y="1574946"/>
            <a:ext cx="7501053" cy="2221278"/>
          </a:xfrm>
          <a:prstGeom prst="rect">
            <a:avLst/>
          </a:prstGeom>
        </p:spPr>
      </p:pic>
    </p:spTree>
    <p:extLst>
      <p:ext uri="{BB962C8B-B14F-4D97-AF65-F5344CB8AC3E}">
        <p14:creationId xmlns:p14="http://schemas.microsoft.com/office/powerpoint/2010/main" val="352753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r>
              <a:rPr lang="en-US" b="1" dirty="0">
                <a:hlinkClick r:id="rId2"/>
              </a:rPr>
              <a:t>Web – Power </a:t>
            </a:r>
            <a:r>
              <a:rPr lang="en-US" b="1" u="sng" dirty="0">
                <a:hlinkClick r:id="rId2"/>
              </a:rPr>
              <a:t>P</a:t>
            </a:r>
            <a:r>
              <a:rPr lang="en-US" b="1" u="sng" dirty="0"/>
              <a:t>ages </a:t>
            </a:r>
            <a:endParaRPr lang="en-US" u="sng" dirty="0">
              <a:ea typeface="+mj-ea"/>
              <a:cs typeface="+mj-cs"/>
            </a:endParaRP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7600" y="5943600"/>
            <a:ext cx="914400" cy="914400"/>
          </a:xfrm>
          <a:prstGeom prst="rect">
            <a:avLst/>
          </a:prstGeom>
        </p:spPr>
      </p:pic>
      <p:pic>
        <p:nvPicPr>
          <p:cNvPr id="7" name="Picture 6">
            <a:extLst>
              <a:ext uri="{FF2B5EF4-FFF2-40B4-BE49-F238E27FC236}">
                <a16:creationId xmlns:a16="http://schemas.microsoft.com/office/drawing/2014/main" id="{D1B113F7-5A66-481B-829A-CA1B9E1E835E}"/>
              </a:ext>
            </a:extLst>
          </p:cNvPr>
          <p:cNvPicPr>
            <a:picLocks noChangeAspect="1"/>
          </p:cNvPicPr>
          <p:nvPr/>
        </p:nvPicPr>
        <p:blipFill>
          <a:blip r:embed="rId9"/>
          <a:stretch>
            <a:fillRect/>
          </a:stretch>
        </p:blipFill>
        <p:spPr>
          <a:xfrm>
            <a:off x="1111539" y="1617344"/>
            <a:ext cx="7062077" cy="4750276"/>
          </a:xfrm>
          <a:prstGeom prst="rect">
            <a:avLst/>
          </a:prstGeom>
        </p:spPr>
      </p:pic>
    </p:spTree>
    <p:extLst>
      <p:ext uri="{BB962C8B-B14F-4D97-AF65-F5344CB8AC3E}">
        <p14:creationId xmlns:p14="http://schemas.microsoft.com/office/powerpoint/2010/main" val="1710045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6" descr="Graphical user interface, application, Word&#10;&#10;Description automatically generated">
            <a:extLst>
              <a:ext uri="{FF2B5EF4-FFF2-40B4-BE49-F238E27FC236}">
                <a16:creationId xmlns:a16="http://schemas.microsoft.com/office/drawing/2014/main" id="{7B29D23C-581A-461F-9401-8C546C78C069}"/>
              </a:ext>
            </a:extLst>
          </p:cNvPr>
          <p:cNvPicPr>
            <a:picLocks noChangeAspect="1"/>
          </p:cNvPicPr>
          <p:nvPr/>
        </p:nvPicPr>
        <p:blipFill>
          <a:blip r:embed="rId2"/>
          <a:stretch>
            <a:fillRect/>
          </a:stretch>
        </p:blipFill>
        <p:spPr>
          <a:xfrm>
            <a:off x="1927303" y="1643729"/>
            <a:ext cx="7659028" cy="4351127"/>
          </a:xfrm>
          <a:prstGeom prst="rect">
            <a:avLst/>
          </a:prstGeom>
        </p:spPr>
      </p:pic>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7659028" cy="1000303"/>
          </a:xfrm>
        </p:spPr>
        <p:txBody>
          <a:bodyPr vert="horz" lIns="91440" tIns="45720" rIns="91440" bIns="45720" rtlCol="0" anchor="t">
            <a:normAutofit fontScale="90000"/>
          </a:bodyPr>
          <a:lstStyle/>
          <a:p>
            <a:r>
              <a:rPr lang="en-US" b="1" u="sng" dirty="0"/>
              <a:t>Portal Integrations </a:t>
            </a:r>
            <a:br>
              <a:rPr lang="en-US" b="1" dirty="0"/>
            </a:br>
            <a:r>
              <a:rPr lang="en-US" b="1" dirty="0"/>
              <a:t>Power Bi/Power Apps in Power Pages</a:t>
            </a:r>
            <a:endParaRPr lang="en-US" dirty="0">
              <a:ea typeface="+mj-ea"/>
              <a:cs typeface="+mj-cs"/>
            </a:endParaRP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167157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7" descr="Graphical user interface, text, website&#10;&#10;Description automatically generated">
            <a:extLst>
              <a:ext uri="{FF2B5EF4-FFF2-40B4-BE49-F238E27FC236}">
                <a16:creationId xmlns:a16="http://schemas.microsoft.com/office/drawing/2014/main" id="{C46A8091-3890-4FAF-9F6C-A8BBC1726ED0}"/>
              </a:ext>
            </a:extLst>
          </p:cNvPr>
          <p:cNvPicPr>
            <a:picLocks noChangeAspect="1"/>
          </p:cNvPicPr>
          <p:nvPr/>
        </p:nvPicPr>
        <p:blipFill>
          <a:blip r:embed="rId2"/>
          <a:stretch>
            <a:fillRect/>
          </a:stretch>
        </p:blipFill>
        <p:spPr>
          <a:xfrm>
            <a:off x="2038815" y="1574514"/>
            <a:ext cx="7240859" cy="4759045"/>
          </a:xfrm>
          <a:prstGeom prst="rect">
            <a:avLst/>
          </a:prstGeom>
        </p:spPr>
      </p:pic>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104471" y="129396"/>
            <a:ext cx="7979808" cy="1485733"/>
          </a:xfrm>
        </p:spPr>
        <p:txBody>
          <a:bodyPr vert="horz" lIns="91440" tIns="45720" rIns="91440" bIns="45720" rtlCol="0" anchor="t">
            <a:normAutofit fontScale="90000"/>
          </a:bodyPr>
          <a:lstStyle/>
          <a:p>
            <a:pPr algn="ctr"/>
            <a:r>
              <a:rPr lang="en-US" b="1" dirty="0"/>
              <a:t>Dashboard </a:t>
            </a:r>
            <a:br>
              <a:rPr lang="en-US" b="1" dirty="0"/>
            </a:br>
            <a:r>
              <a:rPr lang="en-US" b="1" dirty="0"/>
              <a:t>Power Bi w/Customized Python Visualization Embedded In Power Pages</a:t>
            </a:r>
            <a:endParaRPr lang="en-US" dirty="0">
              <a:ea typeface="+mj-ea"/>
              <a:cs typeface="+mj-cs"/>
              <a:hlinkClick r:id="rId3"/>
            </a:endParaRP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038999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6007111" cy="1000303"/>
          </a:xfrm>
        </p:spPr>
        <p:txBody>
          <a:bodyPr vert="horz" lIns="91440" tIns="45720" rIns="91440" bIns="45720" rtlCol="0" anchor="t">
            <a:normAutofit fontScale="90000"/>
          </a:bodyPr>
          <a:lstStyle/>
          <a:p>
            <a:r>
              <a:rPr lang="en-US" b="1" dirty="0">
                <a:hlinkClick r:id="rId2"/>
              </a:rPr>
              <a:t>KPIs, Metrics, and Animations</a:t>
            </a:r>
            <a:endParaRPr lang="en-US" dirty="0">
              <a:ea typeface="+mj-ea"/>
              <a:cs typeface="+mj-cs"/>
              <a:hlinkClick r:id="rId2"/>
            </a:endParaRPr>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7600" y="5943600"/>
            <a:ext cx="914400" cy="914400"/>
          </a:xfrm>
          <a:prstGeom prst="rect">
            <a:avLst/>
          </a:prstGeom>
        </p:spPr>
      </p:pic>
      <p:pic>
        <p:nvPicPr>
          <p:cNvPr id="23" name="Picture 22">
            <a:extLst>
              <a:ext uri="{FF2B5EF4-FFF2-40B4-BE49-F238E27FC236}">
                <a16:creationId xmlns:a16="http://schemas.microsoft.com/office/drawing/2014/main" id="{8FA562AC-33AB-4F05-A457-04BD4B3F485D}"/>
              </a:ext>
            </a:extLst>
          </p:cNvPr>
          <p:cNvPicPr>
            <a:picLocks noChangeAspect="1"/>
          </p:cNvPicPr>
          <p:nvPr/>
        </p:nvPicPr>
        <p:blipFill>
          <a:blip r:embed="rId9"/>
          <a:stretch>
            <a:fillRect/>
          </a:stretch>
        </p:blipFill>
        <p:spPr>
          <a:xfrm>
            <a:off x="1166327" y="1732886"/>
            <a:ext cx="8142514" cy="4510288"/>
          </a:xfrm>
          <a:prstGeom prst="rect">
            <a:avLst/>
          </a:prstGeom>
        </p:spPr>
      </p:pic>
    </p:spTree>
    <p:extLst>
      <p:ext uri="{BB962C8B-B14F-4D97-AF65-F5344CB8AC3E}">
        <p14:creationId xmlns:p14="http://schemas.microsoft.com/office/powerpoint/2010/main" val="1586944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r>
              <a:rPr lang="en-US" b="1" dirty="0">
                <a:ea typeface="+mj-ea"/>
                <a:cs typeface="+mj-cs"/>
                <a:hlinkClick r:id="rId2"/>
              </a:rPr>
              <a:t>Python Integration </a:t>
            </a:r>
            <a:endParaRPr lang="en-US" dirty="0">
              <a:ea typeface="+mj-ea"/>
              <a:cs typeface="+mj-cs"/>
              <a:hlinkClick r:id="rId2"/>
            </a:endParaRPr>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7600" y="5943600"/>
            <a:ext cx="914400" cy="914400"/>
          </a:xfrm>
          <a:prstGeom prst="rect">
            <a:avLst/>
          </a:prstGeom>
        </p:spPr>
      </p:pic>
      <p:pic>
        <p:nvPicPr>
          <p:cNvPr id="6" name="Picture 5">
            <a:extLst>
              <a:ext uri="{FF2B5EF4-FFF2-40B4-BE49-F238E27FC236}">
                <a16:creationId xmlns:a16="http://schemas.microsoft.com/office/drawing/2014/main" id="{5DA3E965-D9A1-44A4-98EC-E9464F79A3E4}"/>
              </a:ext>
            </a:extLst>
          </p:cNvPr>
          <p:cNvPicPr>
            <a:picLocks noChangeAspect="1"/>
          </p:cNvPicPr>
          <p:nvPr/>
        </p:nvPicPr>
        <p:blipFill>
          <a:blip r:embed="rId9"/>
          <a:stretch>
            <a:fillRect/>
          </a:stretch>
        </p:blipFill>
        <p:spPr>
          <a:xfrm>
            <a:off x="679778" y="1615129"/>
            <a:ext cx="7618492" cy="4328472"/>
          </a:xfrm>
          <a:prstGeom prst="rect">
            <a:avLst/>
          </a:prstGeom>
        </p:spPr>
      </p:pic>
    </p:spTree>
    <p:extLst>
      <p:ext uri="{BB962C8B-B14F-4D97-AF65-F5344CB8AC3E}">
        <p14:creationId xmlns:p14="http://schemas.microsoft.com/office/powerpoint/2010/main" val="3679759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r>
              <a:rPr lang="en-US" b="1" dirty="0"/>
              <a:t>Customized Apps</a:t>
            </a:r>
            <a:endParaRPr lang="en-US" dirty="0">
              <a:ea typeface="+mj-ea"/>
              <a:cs typeface="+mj-cs"/>
            </a:endParaRPr>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77600" y="5943600"/>
            <a:ext cx="914400" cy="914400"/>
          </a:xfrm>
          <a:prstGeom prst="rect">
            <a:avLst/>
          </a:prstGeom>
        </p:spPr>
      </p:pic>
      <p:pic>
        <p:nvPicPr>
          <p:cNvPr id="8" name="Picture 7">
            <a:extLst>
              <a:ext uri="{FF2B5EF4-FFF2-40B4-BE49-F238E27FC236}">
                <a16:creationId xmlns:a16="http://schemas.microsoft.com/office/drawing/2014/main" id="{A4A9B89C-B668-49FE-A080-29D8C84A354C}"/>
              </a:ext>
            </a:extLst>
          </p:cNvPr>
          <p:cNvPicPr>
            <a:picLocks noChangeAspect="1"/>
          </p:cNvPicPr>
          <p:nvPr/>
        </p:nvPicPr>
        <p:blipFill>
          <a:blip r:embed="rId8"/>
          <a:stretch>
            <a:fillRect/>
          </a:stretch>
        </p:blipFill>
        <p:spPr>
          <a:xfrm>
            <a:off x="1658587" y="1698172"/>
            <a:ext cx="7502164" cy="4394718"/>
          </a:xfrm>
          <a:prstGeom prst="rect">
            <a:avLst/>
          </a:prstGeom>
        </p:spPr>
      </p:pic>
    </p:spTree>
    <p:extLst>
      <p:ext uri="{BB962C8B-B14F-4D97-AF65-F5344CB8AC3E}">
        <p14:creationId xmlns:p14="http://schemas.microsoft.com/office/powerpoint/2010/main" val="2002039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6" descr="Graphical user interface, application&#10;&#10;Description automatically generated">
            <a:extLst>
              <a:ext uri="{FF2B5EF4-FFF2-40B4-BE49-F238E27FC236}">
                <a16:creationId xmlns:a16="http://schemas.microsoft.com/office/drawing/2014/main" id="{BDD99C2A-DA5F-4B77-A187-1BF62BF17443}"/>
              </a:ext>
            </a:extLst>
          </p:cNvPr>
          <p:cNvPicPr>
            <a:picLocks noChangeAspect="1"/>
          </p:cNvPicPr>
          <p:nvPr/>
        </p:nvPicPr>
        <p:blipFill>
          <a:blip r:embed="rId2"/>
          <a:stretch>
            <a:fillRect/>
          </a:stretch>
        </p:blipFill>
        <p:spPr>
          <a:xfrm>
            <a:off x="1966100" y="1350643"/>
            <a:ext cx="7043853" cy="2635965"/>
          </a:xfrm>
          <a:prstGeom prst="rect">
            <a:avLst/>
          </a:prstGeom>
        </p:spPr>
      </p:pic>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r>
              <a:rPr lang="en-US" b="1" dirty="0">
                <a:hlinkClick r:id="rId3"/>
              </a:rPr>
              <a:t>PowerApps</a:t>
            </a:r>
            <a:endParaRPr lang="en-US">
              <a:ea typeface="+mj-ea"/>
              <a:cs typeface="+mj-cs"/>
            </a:endParaRP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77600" y="5943600"/>
            <a:ext cx="914400" cy="914400"/>
          </a:xfrm>
          <a:prstGeom prst="rect">
            <a:avLst/>
          </a:prstGeom>
        </p:spPr>
      </p:pic>
      <p:pic>
        <p:nvPicPr>
          <p:cNvPr id="8" name="Picture 7">
            <a:extLst>
              <a:ext uri="{FF2B5EF4-FFF2-40B4-BE49-F238E27FC236}">
                <a16:creationId xmlns:a16="http://schemas.microsoft.com/office/drawing/2014/main" id="{A4A9B89C-B668-49FE-A080-29D8C84A354C}"/>
              </a:ext>
            </a:extLst>
          </p:cNvPr>
          <p:cNvPicPr>
            <a:picLocks noChangeAspect="1"/>
          </p:cNvPicPr>
          <p:nvPr/>
        </p:nvPicPr>
        <p:blipFill>
          <a:blip r:embed="rId10"/>
          <a:stretch>
            <a:fillRect/>
          </a:stretch>
        </p:blipFill>
        <p:spPr>
          <a:xfrm>
            <a:off x="18317" y="0"/>
            <a:ext cx="12155365" cy="6858000"/>
          </a:xfrm>
          <a:prstGeom prst="rect">
            <a:avLst/>
          </a:prstGeom>
        </p:spPr>
      </p:pic>
    </p:spTree>
    <p:extLst>
      <p:ext uri="{BB962C8B-B14F-4D97-AF65-F5344CB8AC3E}">
        <p14:creationId xmlns:p14="http://schemas.microsoft.com/office/powerpoint/2010/main" val="3037345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r>
              <a:rPr lang="en-US" b="1" dirty="0"/>
              <a:t>Customized Apps</a:t>
            </a:r>
            <a:endParaRPr lang="en-US" dirty="0">
              <a:ea typeface="+mj-ea"/>
              <a:cs typeface="+mj-cs"/>
            </a:endParaRPr>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943600"/>
            <a:ext cx="914400" cy="9144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77600" y="5943600"/>
            <a:ext cx="914400" cy="914400"/>
          </a:xfrm>
          <a:prstGeom prst="rect">
            <a:avLst/>
          </a:prstGeom>
        </p:spPr>
      </p:pic>
      <p:pic>
        <p:nvPicPr>
          <p:cNvPr id="6" name="Picture 5">
            <a:extLst>
              <a:ext uri="{FF2B5EF4-FFF2-40B4-BE49-F238E27FC236}">
                <a16:creationId xmlns:a16="http://schemas.microsoft.com/office/drawing/2014/main" id="{1EA3EB6F-6E2F-46B9-B52E-5ED0B2F97875}"/>
              </a:ext>
            </a:extLst>
          </p:cNvPr>
          <p:cNvPicPr>
            <a:picLocks noChangeAspect="1"/>
          </p:cNvPicPr>
          <p:nvPr/>
        </p:nvPicPr>
        <p:blipFill>
          <a:blip r:embed="rId8"/>
          <a:stretch>
            <a:fillRect/>
          </a:stretch>
        </p:blipFill>
        <p:spPr>
          <a:xfrm>
            <a:off x="1035698" y="1699104"/>
            <a:ext cx="7735078" cy="4244496"/>
          </a:xfrm>
          <a:prstGeom prst="rect">
            <a:avLst/>
          </a:prstGeom>
        </p:spPr>
      </p:pic>
    </p:spTree>
    <p:extLst>
      <p:ext uri="{BB962C8B-B14F-4D97-AF65-F5344CB8AC3E}">
        <p14:creationId xmlns:p14="http://schemas.microsoft.com/office/powerpoint/2010/main" val="173469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2521069" y="614826"/>
            <a:ext cx="5777201" cy="1000303"/>
          </a:xfrm>
        </p:spPr>
        <p:txBody>
          <a:bodyPr vert="horz" lIns="91440" tIns="45720" rIns="91440" bIns="45720" rtlCol="0" anchor="t">
            <a:normAutofit/>
          </a:bodyPr>
          <a:lstStyle/>
          <a:p>
            <a:endParaRPr lang="en-US" dirty="0">
              <a:ea typeface="+mj-ea"/>
              <a:cs typeface="+mj-cs"/>
            </a:endParaRPr>
          </a:p>
        </p:txBody>
      </p:sp>
      <p:sp>
        <p:nvSpPr>
          <p:cNvPr id="24" name="Isosceles Triangle 23">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Check List">
            <a:extLst>
              <a:ext uri="{FF2B5EF4-FFF2-40B4-BE49-F238E27FC236}">
                <a16:creationId xmlns:a16="http://schemas.microsoft.com/office/drawing/2014/main" id="{D97D968D-E888-4059-BEAF-0CA2BE8DE4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189" y="490773"/>
            <a:ext cx="1135863" cy="1126571"/>
          </a:xfrm>
          <a:prstGeom prst="rect">
            <a:avLst/>
          </a:prstGeom>
        </p:spPr>
      </p:pic>
      <p:pic>
        <p:nvPicPr>
          <p:cNvPr id="4" name="Graphic 3" descr="Caret Left with solid fill">
            <a:hlinkClick r:id="" action="ppaction://hlinkshowjump?jump=previousslide"/>
            <a:extLst>
              <a:ext uri="{FF2B5EF4-FFF2-40B4-BE49-F238E27FC236}">
                <a16:creationId xmlns:a16="http://schemas.microsoft.com/office/drawing/2014/main" id="{F2FF12B8-184A-4321-8F5D-6BC7844A0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943600"/>
            <a:ext cx="914400" cy="914400"/>
          </a:xfrm>
          <a:prstGeom prst="rect">
            <a:avLst/>
          </a:prstGeom>
        </p:spPr>
      </p:pic>
      <p:pic>
        <p:nvPicPr>
          <p:cNvPr id="6" name="Picture 5">
            <a:extLst>
              <a:ext uri="{FF2B5EF4-FFF2-40B4-BE49-F238E27FC236}">
                <a16:creationId xmlns:a16="http://schemas.microsoft.com/office/drawing/2014/main" id="{5B9371D7-64FD-4465-89BE-6E5FFA63A53E}"/>
              </a:ext>
            </a:extLst>
          </p:cNvPr>
          <p:cNvPicPr>
            <a:picLocks noChangeAspect="1"/>
          </p:cNvPicPr>
          <p:nvPr/>
        </p:nvPicPr>
        <p:blipFill>
          <a:blip r:embed="rId6"/>
          <a:stretch>
            <a:fillRect/>
          </a:stretch>
        </p:blipFill>
        <p:spPr>
          <a:xfrm>
            <a:off x="1253003" y="1706675"/>
            <a:ext cx="7161156" cy="4536500"/>
          </a:xfrm>
          <a:prstGeom prst="rect">
            <a:avLst/>
          </a:prstGeom>
        </p:spPr>
      </p:pic>
      <p:pic>
        <p:nvPicPr>
          <p:cNvPr id="5" name="Graphic 4" descr="Caret Right with solid fill">
            <a:hlinkClick r:id="" action="ppaction://hlinkshowjump?jump=nextslide"/>
            <a:extLst>
              <a:ext uri="{FF2B5EF4-FFF2-40B4-BE49-F238E27FC236}">
                <a16:creationId xmlns:a16="http://schemas.microsoft.com/office/drawing/2014/main" id="{793868AA-9C6C-434A-BC3C-B3D87ACA5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3429166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Yellow and blue symbols">
            <a:extLst>
              <a:ext uri="{FF2B5EF4-FFF2-40B4-BE49-F238E27FC236}">
                <a16:creationId xmlns:a16="http://schemas.microsoft.com/office/drawing/2014/main" id="{C0E025AF-3031-4757-8F8B-15DC887BC4E0}"/>
              </a:ext>
            </a:extLst>
          </p:cNvPr>
          <p:cNvPicPr>
            <a:picLocks noChangeAspect="1"/>
          </p:cNvPicPr>
          <p:nvPr/>
        </p:nvPicPr>
        <p:blipFill rotWithShape="1">
          <a:blip r:embed="rId2">
            <a:duotone>
              <a:prstClr val="black"/>
              <a:schemeClr val="accent1">
                <a:tint val="45000"/>
                <a:satMod val="400000"/>
              </a:schemeClr>
            </a:duotone>
          </a:blip>
          <a:srcRect l="8637" r="3612" b="701"/>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08D2517B-994A-E94A-8D77-A3CA4B76D4D0}"/>
              </a:ext>
            </a:extLst>
          </p:cNvPr>
          <p:cNvSpPr>
            <a:spLocks noGrp="1"/>
          </p:cNvSpPr>
          <p:nvPr>
            <p:ph type="title"/>
          </p:nvPr>
        </p:nvSpPr>
        <p:spPr>
          <a:xfrm>
            <a:off x="732753" y="884339"/>
            <a:ext cx="4088190" cy="741261"/>
          </a:xfrm>
        </p:spPr>
        <p:txBody>
          <a:bodyPr vert="horz" lIns="91440" tIns="45720" rIns="91440" bIns="45720" rtlCol="0" anchor="b">
            <a:normAutofit/>
          </a:bodyPr>
          <a:lstStyle/>
          <a:p>
            <a:pPr algn="ctr"/>
            <a:r>
              <a:rPr lang="en-US" b="1" dirty="0"/>
              <a:t>Questions?</a:t>
            </a:r>
          </a:p>
        </p:txBody>
      </p:sp>
      <p:cxnSp>
        <p:nvCxnSpPr>
          <p:cNvPr id="22" name="Straight Connector 21">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TextBox 26">
            <a:extLst>
              <a:ext uri="{FF2B5EF4-FFF2-40B4-BE49-F238E27FC236}">
                <a16:creationId xmlns:a16="http://schemas.microsoft.com/office/drawing/2014/main" id="{90138A75-EAE9-4AB3-B01B-49BA2AB270D4}"/>
              </a:ext>
            </a:extLst>
          </p:cNvPr>
          <p:cNvSpPr txBox="1"/>
          <p:nvPr/>
        </p:nvSpPr>
        <p:spPr>
          <a:xfrm>
            <a:off x="1405155" y="2191712"/>
            <a:ext cx="2556181" cy="515206"/>
          </a:xfrm>
          <a:prstGeom prst="rect">
            <a:avLst/>
          </a:prstGeom>
          <a:noFill/>
        </p:spPr>
        <p:txBody>
          <a:bodyPr wrap="square">
            <a:spAutoFit/>
          </a:bodyPr>
          <a:lstStyle/>
          <a:p>
            <a:pPr marL="0" marR="0">
              <a:lnSpc>
                <a:spcPct val="120000"/>
              </a:lnSpc>
              <a:spcBef>
                <a:spcPts val="0"/>
              </a:spcBef>
              <a:spcAft>
                <a:spcPts val="900"/>
              </a:spcAft>
            </a:pPr>
            <a:r>
              <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rPr>
              <a:t>A more detailed </a:t>
            </a:r>
            <a:r>
              <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rPr>
              <a:t>Project Proposal is available </a:t>
            </a:r>
            <a:r>
              <a:rPr lang="en-US" sz="1200" dirty="0">
                <a:solidFill>
                  <a:srgbClr val="404040"/>
                </a:solidFill>
                <a:latin typeface="Arial" panose="020B0604020202020204" pitchFamily="34" charset="0"/>
                <a:ea typeface="Arial" panose="020B0604020202020204" pitchFamily="34" charset="0"/>
                <a:cs typeface="Times New Roman" panose="02020603050405020304" pitchFamily="18" charset="0"/>
                <a:hlinkClick r:id="rId3"/>
              </a:rPr>
              <a:t>@DC_CapstoneProject</a:t>
            </a:r>
            <a:endParaRPr lang="en-US" sz="1200" dirty="0">
              <a:solidFill>
                <a:srgbClr val="404040"/>
              </a:solidFill>
              <a:effectLst/>
              <a:latin typeface="Arial" panose="020B0604020202020204" pitchFamily="34" charset="0"/>
              <a:ea typeface="Arial" panose="020B0604020202020204" pitchFamily="34" charset="0"/>
              <a:cs typeface="Times New Roman" panose="02020603050405020304" pitchFamily="18" charset="0"/>
            </a:endParaRPr>
          </a:p>
        </p:txBody>
      </p:sp>
      <p:pic>
        <p:nvPicPr>
          <p:cNvPr id="25" name="Graphic 24" descr="Caret Left with solid fill">
            <a:hlinkClick r:id="" action="ppaction://hlinkshowjump?jump=previousslide"/>
            <a:extLst>
              <a:ext uri="{FF2B5EF4-FFF2-40B4-BE49-F238E27FC236}">
                <a16:creationId xmlns:a16="http://schemas.microsoft.com/office/drawing/2014/main" id="{C0A892F3-6CD9-4A1D-9858-7A4C6B07A1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943600"/>
            <a:ext cx="914400" cy="914400"/>
          </a:xfrm>
          <a:prstGeom prst="rect">
            <a:avLst/>
          </a:prstGeom>
        </p:spPr>
      </p:pic>
    </p:spTree>
    <p:extLst>
      <p:ext uri="{BB962C8B-B14F-4D97-AF65-F5344CB8AC3E}">
        <p14:creationId xmlns:p14="http://schemas.microsoft.com/office/powerpoint/2010/main" val="349319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27ABCA090233459DADAB0B05083BB3" ma:contentTypeVersion="12" ma:contentTypeDescription="Create a new document." ma:contentTypeScope="" ma:versionID="6a0dfd9f71f13bca9444a869b5021a4a">
  <xsd:schema xmlns:xsd="http://www.w3.org/2001/XMLSchema" xmlns:xs="http://www.w3.org/2001/XMLSchema" xmlns:p="http://schemas.microsoft.com/office/2006/metadata/properties" xmlns:ns2="4b49ead6-c346-446e-8fe6-d6668baf4d5a" xmlns:ns3="eaab06e3-e66d-4710-b1a4-e08c9eb89e09" targetNamespace="http://schemas.microsoft.com/office/2006/metadata/properties" ma:root="true" ma:fieldsID="5ee2105629f39cfad5bd0ec5a0d3f4d7" ns2:_="" ns3:_="">
    <xsd:import namespace="4b49ead6-c346-446e-8fe6-d6668baf4d5a"/>
    <xsd:import namespace="eaab06e3-e66d-4710-b1a4-e08c9eb89e0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9ead6-c346-446e-8fe6-d6668baf4d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aab06e3-e66d-4710-b1a4-e08c9eb89e0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A00B60-5A28-4607-9AA1-BA86B60C98E2}">
  <ds:schemaRefs>
    <ds:schemaRef ds:uri="eaab06e3-e66d-4710-b1a4-e08c9eb89e09"/>
    <ds:schemaRef ds:uri="http://purl.org/dc/terms/"/>
    <ds:schemaRef ds:uri="http://purl.org/dc/dcmitype/"/>
    <ds:schemaRef ds:uri="http://schemas.openxmlformats.org/package/2006/metadata/core-properties"/>
    <ds:schemaRef ds:uri="4b49ead6-c346-446e-8fe6-d6668baf4d5a"/>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FDA7072E-1917-447E-A4D8-0551520359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49ead6-c346-446e-8fe6-d6668baf4d5a"/>
    <ds:schemaRef ds:uri="eaab06e3-e66d-4710-b1a4-e08c9eb89e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E5FCC2-9467-481A-B85E-83554DC7D8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2625</TotalTime>
  <Words>1257</Words>
  <Application>Microsoft Office PowerPoint</Application>
  <PresentationFormat>Widescreen</PresentationFormat>
  <Paragraphs>133</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Symbol</vt:lpstr>
      <vt:lpstr>Trebuchet MS</vt:lpstr>
      <vt:lpstr>Wingdings</vt:lpstr>
      <vt:lpstr>Wingdings 3</vt:lpstr>
      <vt:lpstr>Facet</vt:lpstr>
      <vt:lpstr>Fully Functional Business Solutions</vt:lpstr>
      <vt:lpstr>Agenda</vt:lpstr>
      <vt:lpstr>Introduction</vt:lpstr>
      <vt:lpstr>Use Case (Fictional)</vt:lpstr>
      <vt:lpstr>Execution Strategy</vt:lpstr>
      <vt:lpstr>Project Overview</vt:lpstr>
      <vt:lpstr>Requirements Summary</vt:lpstr>
      <vt:lpstr>Software Development Life Cycle (SDLC) </vt:lpstr>
      <vt:lpstr>Project Management </vt:lpstr>
      <vt:lpstr>Progress Report</vt:lpstr>
      <vt:lpstr>Azure Resource Administration</vt:lpstr>
      <vt:lpstr>SQL DTL/ELT/ETL via SSMS</vt:lpstr>
      <vt:lpstr>Database Design</vt:lpstr>
      <vt:lpstr>M365 DataVerse/Dynamics Integration</vt:lpstr>
      <vt:lpstr>Analytical Datasets – Power BI (Power Query/DAX)</vt:lpstr>
      <vt:lpstr>Data Flows – Azure Data Factor</vt:lpstr>
      <vt:lpstr>Automation – Power Automate</vt:lpstr>
      <vt:lpstr>Web – Power Pages </vt:lpstr>
      <vt:lpstr>Portal Integrations  Power Bi/Power Apps in Power Pages</vt:lpstr>
      <vt:lpstr>Dashboard  Power Bi w/Customized Python Visualization Embedded In Power Pages</vt:lpstr>
      <vt:lpstr>KPIs, Metrics, and Animations</vt:lpstr>
      <vt:lpstr>Python Integration </vt:lpstr>
      <vt:lpstr>Customized Apps</vt:lpstr>
      <vt:lpstr>PowerApps</vt:lpstr>
      <vt:lpstr>Customized Apps</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IMMERSIVE 01-22 CAPSTONE PROJECT</dc:title>
  <dc:creator>Microsoft Office User</dc:creator>
  <cp:lastModifiedBy>David Clerk</cp:lastModifiedBy>
  <cp:revision>343</cp:revision>
  <dcterms:created xsi:type="dcterms:W3CDTF">2020-09-01T05:07:39Z</dcterms:created>
  <dcterms:modified xsi:type="dcterms:W3CDTF">2025-09-29T20:29:40Z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0x0101002427ABCA090233459DADAB0B05083BB3</vt:lpwstr>
  </property>
  <property fmtid="{D5CDD505-2E9C-101B-9397-08002B2CF9AE}" pid="3" name="Order">
    <vt:r8>1200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ies>
</file>